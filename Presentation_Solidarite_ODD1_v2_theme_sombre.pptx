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secondes. Bonsoir, nous présentons Solidarité+, un prototype web conçu en binôme autour de l'ODD 1 : Pas de pauvreté. Remplacer les noms du binôme sur la diapositive. Annoncer le plan : l'ODD, le problème, l'application, les impacts, les indicateurs, les limites.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10. Présenter l'ODD 1 : adopté en 2015, objectif = fin de la pauvreté sous toutes ses formes. Souligner la double dimension (revenu ET accès aux biens essentiels). Deux chiffres forts : 1 personne sur 10, et 575 millions en 2030 si rien ne change. Fiche source : sdgs.un.org/goals/goal1.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10. Balayer rapidement les cibles 1.1 à 1.a, puis insister sur les deux cibles retenues par le prototype : 1.2 (réduire de moitié la pauvreté sous toutes ses formes) et 1.4 (renforcer la résilience des vulnérables). Message clé : notre projet attaque le COÛT D'ACCÈS à l'aide, pas la cause de la pauvreté.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20. Trois enjeux : social (dignité, éducation des enfants), économique (crises, inégalités), environnemental (gaspillage vs réemploi). Puis les 4 obstacles du bas : conflits, inégalités, protection sociale incomplète, et surtout le coût d'accès à l'aide — celui que notre application attaque directement.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secondes. Le problème : d'un côté des objets qui dorment, de l'autre des familles qui manquent de l'essentiel — et un coût d'accès à l'aide (justificatifs, distance, honte) qui bloque tout. Lire la problématique à voix haute. Les trois utilisateurs : familles, donneurs, associations.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secondes. Une phrase d'intro puis les 6 fonctionnalités : registre filtrable (5 catégories), publication en 3 minutes sans données personnelles, demande sans justificatif, modération par association, espace personnel, vie privée par défaut. Mentionner la techno : HTML/CSS/JS avec stockage local — c'est un prototype de démonstration.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avec la démonstration en direct. Scénario : ouvrir l'accueil, filtrer le registre sur « Fournitures scolaires », ouvrir une fiche, publier un manteau d'hiver, passer en mode association pour valider l'annonce, puis montrer une demande et la remise en main propre. Insister : aucune adresse, aucun justificatif, aucun paiement.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15. Parcourir le tableau ligne par ligne. Social : bénéfice = accès digne, risque = vitrine de la pauvreté, réponse = zéro justificatif. Environnemental : bénéfice = réemploi, risque = flux de déchets, réponse = modération. Économique : bénéfice = budget allégé, risque = revente, réponse = zéro prix, zéro paiement. Préciser que ces impacts restent des hypothèses à mesurer lors d'un pilote.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secondes. Indicateur 1 : le taux de remise effective — il mesure si le lien donneur → bénéficiaire fonctionne vraiment (cible : 60 % des annonces validées remises en moins de 7 jours). Indicateur 2 : les gains pour les ménages — valeur estimée des biens reçus, 30 familles par trimestre au pilote. Préciser qu'un prototype seul ne peut pas les mesurer.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Être honnête sur les limites : prototype fictif, sans serveur, sans vérification réelle, sans mesure d'impact, sans endossement ONU. Améliorations : back-end, comptes vérifiés, pilote réel avec une association, version mobile, interface arabe, pilotage par les deux indicateurs. Conclure sur la phrase du projet et enchaîner sur la démo si elle n'a pas déjà été montrée (ordre de passage à adapter).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331720"/>
            <a:ext cx="128016" cy="2286000"/>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685800"/>
            <a:ext cx="960120" cy="960120"/>
          </a:xfrm>
          <a:prstGeom prst="roundRect">
            <a:avLst>
              <a:gd name="adj" fmla="val 12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2F3F5"/>
                </a:solidFill>
                <a:latin typeface="Segoe UI"/>
              </a:rPr>
              <a:t>1</a:t>
            </a:r>
          </a:p>
        </p:txBody>
      </p:sp>
      <p:sp>
        <p:nvSpPr>
          <p:cNvPr id="6" name="TextBox 5"/>
          <p:cNvSpPr txBox="1"/>
          <p:nvPr/>
        </p:nvSpPr>
        <p:spPr>
          <a:xfrm>
            <a:off x="1828800" y="786384"/>
            <a:ext cx="7315200" cy="822960"/>
          </a:xfrm>
          <a:prstGeom prst="rect">
            <a:avLst/>
          </a:prstGeom>
          <a:noFill/>
        </p:spPr>
        <p:txBody>
          <a:bodyPr wrap="square" anchor="ctr" lIns="0" rIns="0" tIns="0" bIns="0">
            <a:spAutoFit/>
          </a:bodyPr>
          <a:lstStyle/>
          <a:p>
            <a:pPr>
              <a:spcBef>
                <a:spcPts val="0"/>
              </a:spcBef>
              <a:spcAft>
                <a:spcPts val="0"/>
              </a:spcAft>
            </a:pPr>
            <a:r>
              <a:rPr sz="1400" b="1" i="0" spc="260">
                <a:solidFill>
                  <a:srgbClr val="F8D08C"/>
                </a:solidFill>
                <a:latin typeface="Segoe UI"/>
              </a:rPr>
              <a:t>ODD 1 · PAS DE PAUVRETÉ</a:t>
            </a:r>
          </a:p>
          <a:p>
            <a:pPr>
              <a:spcBef>
                <a:spcPts val="200"/>
              </a:spcBef>
              <a:spcAft>
                <a:spcPts val="0"/>
              </a:spcAft>
            </a:pPr>
            <a:r>
              <a:rPr sz="1050" b="0" i="0">
                <a:solidFill>
                  <a:srgbClr val="777D8A"/>
                </a:solidFill>
                <a:latin typeface="Segoe UI"/>
              </a:rPr>
              <a:t>sdgs.un.org/goals/goal1</a:t>
            </a:r>
          </a:p>
        </p:txBody>
      </p:sp>
      <p:sp>
        <p:nvSpPr>
          <p:cNvPr id="7" name="TextBox 6"/>
          <p:cNvSpPr txBox="1"/>
          <p:nvPr/>
        </p:nvSpPr>
        <p:spPr>
          <a:xfrm>
            <a:off x="868680" y="2240280"/>
            <a:ext cx="10515600" cy="2468880"/>
          </a:xfrm>
          <a:prstGeom prst="rect">
            <a:avLst/>
          </a:prstGeom>
          <a:noFill/>
        </p:spPr>
        <p:txBody>
          <a:bodyPr wrap="square" anchor="t" lIns="0" rIns="0" tIns="0" bIns="0">
            <a:spAutoFit/>
          </a:bodyPr>
          <a:lstStyle/>
          <a:p>
            <a:pPr>
              <a:spcBef>
                <a:spcPts val="0"/>
              </a:spcBef>
              <a:spcAft>
                <a:spcPts val="0"/>
              </a:spcAft>
            </a:pPr>
            <a:r>
              <a:rPr sz="6000" b="1" i="0">
                <a:solidFill>
                  <a:srgbClr val="F2F3F5"/>
                </a:solidFill>
                <a:latin typeface="Segoe UI"/>
              </a:rPr>
              <a:t>Solidarité</a:t>
            </a:r>
            <a:r>
              <a:rPr sz="6000" b="1" i="0">
                <a:solidFill>
                  <a:srgbClr val="F2B33D"/>
                </a:solidFill>
                <a:latin typeface="Segoe UI"/>
              </a:rPr>
              <a:t>+</a:t>
            </a:r>
          </a:p>
          <a:p>
            <a:pPr>
              <a:spcBef>
                <a:spcPts val="1000"/>
              </a:spcBef>
              <a:spcAft>
                <a:spcPts val="0"/>
              </a:spcAft>
            </a:pPr>
            <a:r>
              <a:rPr sz="2200" b="0" i="1">
                <a:solidFill>
                  <a:srgbClr val="F8D08C"/>
                </a:solidFill>
                <a:latin typeface="Segoe UI"/>
              </a:rPr>
              <a:t>Le registre des dons de quartier</a:t>
            </a:r>
          </a:p>
          <a:p>
            <a:pPr>
              <a:spcBef>
                <a:spcPts val="1400"/>
              </a:spcBef>
              <a:spcAft>
                <a:spcPts val="0"/>
              </a:spcAft>
            </a:pPr>
            <a:r>
              <a:rPr sz="1350" b="0" i="0">
                <a:solidFill>
                  <a:srgbClr val="A8AEBB"/>
                </a:solidFill>
                <a:latin typeface="Segoe UI"/>
              </a:rPr>
              <a:t>Un prototype d'application web qui met des biens essentiels — vêtements, fournitures scolaires, hygiène, alimentation — à portée de quartier, gratuitement et avec dignité.</a:t>
            </a:r>
          </a:p>
        </p:txBody>
      </p:sp>
      <p:sp>
        <p:nvSpPr>
          <p:cNvPr id="8" name="TextBox 7"/>
          <p:cNvSpPr txBox="1"/>
          <p:nvPr/>
        </p:nvSpPr>
        <p:spPr>
          <a:xfrm>
            <a:off x="868680" y="5989320"/>
            <a:ext cx="10424160" cy="457200"/>
          </a:xfrm>
          <a:prstGeom prst="rect">
            <a:avLst/>
          </a:prstGeom>
          <a:noFill/>
        </p:spPr>
        <p:txBody>
          <a:bodyPr wrap="square" anchor="t" lIns="0" rIns="0" tIns="0" bIns="0">
            <a:spAutoFit/>
          </a:bodyPr>
          <a:lstStyle/>
          <a:p>
            <a:pPr>
              <a:spcBef>
                <a:spcPts val="0"/>
              </a:spcBef>
              <a:spcAft>
                <a:spcPts val="0"/>
              </a:spcAft>
            </a:pPr>
            <a:r>
              <a:rPr sz="1200" b="0" i="0">
                <a:solidFill>
                  <a:srgbClr val="A8AEBB"/>
                </a:solidFill>
                <a:latin typeface="Segoe UI"/>
              </a:rPr>
              <a:t>EMSI — 3IIR, S5  ·  Année 2026  ·  Travail en binôme  ·  Prénom NOM &amp; Prénom NOM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1B1F29"/>
                </a:solidFill>
                <a:latin typeface="Segoe UI"/>
              </a:rPr>
              <a:t>01</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F2B33D"/>
                </a:solidFill>
                <a:latin typeface="Segoe UI"/>
              </a:rPr>
              <a:t>SECTION 1 · L'ODD CHOISI</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2900" b="1" i="0">
                <a:solidFill>
                  <a:srgbClr val="F2F3F5"/>
                </a:solidFill>
                <a:latin typeface="Segoe UI"/>
              </a:rPr>
              <a:t>L'ODD 1 : éliminer la pauvreté partout</a:t>
            </a:r>
          </a:p>
        </p:txBody>
      </p:sp>
      <p:sp>
        <p:nvSpPr>
          <p:cNvPr id="6" name="Rectangle 5"/>
          <p:cNvSpPr/>
          <p:nvPr/>
        </p:nvSpPr>
        <p:spPr>
          <a:xfrm>
            <a:off x="612648" y="1481328"/>
            <a:ext cx="822960" cy="50292"/>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828800"/>
            <a:ext cx="6675120" cy="4343400"/>
          </a:xfrm>
          <a:prstGeom prst="roundRect">
            <a:avLst>
              <a:gd name="adj" fmla="val 5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21408"/>
            <a:ext cx="6080760" cy="3840480"/>
          </a:xfrm>
          <a:prstGeom prst="rect">
            <a:avLst/>
          </a:prstGeom>
          <a:noFill/>
        </p:spPr>
        <p:txBody>
          <a:bodyPr wrap="square" anchor="t" lIns="0" rIns="0" tIns="0" bIns="0">
            <a:spAutoFit/>
          </a:bodyPr>
          <a:lstStyle/>
          <a:p>
            <a:pPr>
              <a:spcBef>
                <a:spcPts val="0"/>
              </a:spcBef>
              <a:spcAft>
                <a:spcPts val="800"/>
              </a:spcAft>
            </a:pPr>
            <a:r>
              <a:rPr sz="1500" b="1" i="0">
                <a:solidFill>
                  <a:srgbClr val="F2B33D"/>
                </a:solidFill>
                <a:latin typeface="Segoe UI"/>
              </a:rPr>
              <a:t>Qu'est-ce que l'ODD 1 ?</a:t>
            </a:r>
          </a:p>
          <a:p>
            <a:pPr marL="219456" indent="-219456">
              <a:spcBef>
                <a:spcPts val="700"/>
              </a:spcBef>
              <a:spcAft>
                <a:spcPts val="0"/>
              </a:spcAft>
              <a:buClr>
                <a:srgbClr val="F2B33D"/>
              </a:buClr>
              <a:buSzPct val="60000"/>
              <a:buFont typeface="Arial"/>
              <a:buChar char="■"/>
            </a:pPr>
            <a:r>
              <a:rPr sz="1250" b="0" i="0">
                <a:solidFill>
                  <a:srgbClr val="F2F3F5"/>
                </a:solidFill>
                <a:latin typeface="Segoe UI"/>
              </a:rPr>
              <a:t>L'un des 17 Objectifs de développement durable adoptés par l'ONU en 2015 dans l'Agenda 2030.</a:t>
            </a:r>
          </a:p>
          <a:p>
            <a:pPr marL="219456" indent="-219456">
              <a:spcBef>
                <a:spcPts val="700"/>
              </a:spcBef>
              <a:spcAft>
                <a:spcPts val="0"/>
              </a:spcAft>
              <a:buClr>
                <a:srgbClr val="F2B33D"/>
              </a:buClr>
              <a:buSzPct val="60000"/>
              <a:buFont typeface="Arial"/>
              <a:buChar char="■"/>
            </a:pPr>
            <a:r>
              <a:rPr sz="1250" b="0" i="0">
                <a:solidFill>
                  <a:srgbClr val="F2F3F5"/>
                </a:solidFill>
                <a:latin typeface="Segoe UI"/>
              </a:rPr>
              <a:t>Sa promesse : mettre fin à la pauvreté sous toutes ses formes, partout dans le monde.</a:t>
            </a:r>
          </a:p>
          <a:p>
            <a:pPr marL="219456" indent="-219456">
              <a:spcBef>
                <a:spcPts val="700"/>
              </a:spcBef>
              <a:spcAft>
                <a:spcPts val="0"/>
              </a:spcAft>
              <a:buClr>
                <a:srgbClr val="F2B33D"/>
              </a:buClr>
              <a:buSzPct val="60000"/>
              <a:buFont typeface="Arial"/>
              <a:buChar char="■"/>
            </a:pPr>
            <a:r>
              <a:rPr sz="1250" b="0" i="0">
                <a:solidFill>
                  <a:srgbClr val="F2F3F5"/>
                </a:solidFill>
                <a:latin typeface="Segoe UI"/>
              </a:rPr>
              <a:t>La pauvreté n'est pas seulement l'argent : c'est aussi l'accès à l'alimentation, à l'hygiène, à l'éducation, aux ressources de base.</a:t>
            </a:r>
          </a:p>
          <a:p>
            <a:pPr marL="219456" indent="-219456">
              <a:spcBef>
                <a:spcPts val="700"/>
              </a:spcBef>
              <a:spcAft>
                <a:spcPts val="0"/>
              </a:spcAft>
              <a:buClr>
                <a:srgbClr val="F2B33D"/>
              </a:buClr>
              <a:buSzPct val="60000"/>
              <a:buFont typeface="Arial"/>
              <a:buChar char="■"/>
            </a:pPr>
            <a:r>
              <a:rPr sz="1250" b="0" i="0">
                <a:solidFill>
                  <a:srgbClr val="F2F3F5"/>
                </a:solidFill>
                <a:latin typeface="Segoe UI"/>
              </a:rPr>
              <a:t>L'ODD 1 est la fondation des autres ODD : sans elle, ni santé, ni école, ni égalité durables.</a:t>
            </a:r>
          </a:p>
        </p:txBody>
      </p:sp>
      <p:sp>
        <p:nvSpPr>
          <p:cNvPr id="9" name="Rounded Rectangle 8"/>
          <p:cNvSpPr/>
          <p:nvPr/>
        </p:nvSpPr>
        <p:spPr>
          <a:xfrm>
            <a:off x="7589520" y="1828800"/>
            <a:ext cx="3977639" cy="1325880"/>
          </a:xfrm>
          <a:prstGeom prst="roundRect">
            <a:avLst>
              <a:gd name="adj" fmla="val 9000"/>
            </a:avLst>
          </a:prstGeom>
          <a:solidFill>
            <a:srgbClr val="242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7" y="2011680"/>
            <a:ext cx="3429000" cy="1005840"/>
          </a:xfrm>
          <a:prstGeom prst="rect">
            <a:avLst/>
          </a:prstGeom>
          <a:noFill/>
        </p:spPr>
        <p:txBody>
          <a:bodyPr wrap="square" anchor="t" lIns="0" rIns="0" tIns="0" bIns="0">
            <a:spAutoFit/>
          </a:bodyPr>
          <a:lstStyle/>
          <a:p>
            <a:pPr>
              <a:spcBef>
                <a:spcPts val="0"/>
              </a:spcBef>
              <a:spcAft>
                <a:spcPts val="0"/>
              </a:spcAft>
            </a:pPr>
            <a:r>
              <a:rPr sz="1700" b="1" i="0">
                <a:solidFill>
                  <a:srgbClr val="F2B33D"/>
                </a:solidFill>
                <a:latin typeface="Segoe UI"/>
              </a:rPr>
              <a:t>Près d'1 sur 10</a:t>
            </a:r>
          </a:p>
          <a:p>
            <a:pPr>
              <a:spcBef>
                <a:spcPts val="300"/>
              </a:spcBef>
              <a:spcAft>
                <a:spcPts val="0"/>
              </a:spcAft>
            </a:pPr>
            <a:r>
              <a:rPr sz="1050" b="0" i="0">
                <a:solidFill>
                  <a:srgbClr val="A8AEBB"/>
                </a:solidFill>
                <a:latin typeface="Segoe UI"/>
              </a:rPr>
              <a:t>personne dans le monde vit encore dans l'extrême pauvreté (moins de 2,15 $ par jour).</a:t>
            </a:r>
          </a:p>
        </p:txBody>
      </p:sp>
      <p:sp>
        <p:nvSpPr>
          <p:cNvPr id="11" name="Rounded Rectangle 10"/>
          <p:cNvSpPr/>
          <p:nvPr/>
        </p:nvSpPr>
        <p:spPr>
          <a:xfrm>
            <a:off x="7589520" y="3337560"/>
            <a:ext cx="3977639" cy="1325880"/>
          </a:xfrm>
          <a:prstGeom prst="roundRect">
            <a:avLst>
              <a:gd name="adj" fmla="val 9000"/>
            </a:avLst>
          </a:prstGeom>
          <a:solidFill>
            <a:srgbClr val="242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82127" y="3520440"/>
            <a:ext cx="3429000" cy="1005840"/>
          </a:xfrm>
          <a:prstGeom prst="rect">
            <a:avLst/>
          </a:prstGeom>
          <a:noFill/>
        </p:spPr>
        <p:txBody>
          <a:bodyPr wrap="square" anchor="t" lIns="0" rIns="0" tIns="0" bIns="0">
            <a:spAutoFit/>
          </a:bodyPr>
          <a:lstStyle/>
          <a:p>
            <a:pPr>
              <a:spcBef>
                <a:spcPts val="0"/>
              </a:spcBef>
              <a:spcAft>
                <a:spcPts val="0"/>
              </a:spcAft>
            </a:pPr>
            <a:r>
              <a:rPr sz="1700" b="1" i="0">
                <a:solidFill>
                  <a:srgbClr val="F2B33D"/>
                </a:solidFill>
                <a:latin typeface="Segoe UI"/>
              </a:rPr>
              <a:t>~ 575 millions</a:t>
            </a:r>
          </a:p>
          <a:p>
            <a:pPr>
              <a:spcBef>
                <a:spcPts val="300"/>
              </a:spcBef>
              <a:spcAft>
                <a:spcPts val="0"/>
              </a:spcAft>
            </a:pPr>
            <a:r>
              <a:rPr sz="1050" b="0" i="0">
                <a:solidFill>
                  <a:srgbClr val="A8AEBB"/>
                </a:solidFill>
                <a:latin typeface="Segoe UI"/>
              </a:rPr>
              <a:t>de personnes resteraient en extrême pauvreté en 2030 selon l'ONU si le rythme actuel ne change pas.</a:t>
            </a:r>
          </a:p>
        </p:txBody>
      </p:sp>
      <p:sp>
        <p:nvSpPr>
          <p:cNvPr id="13" name="Rounded Rectangle 12"/>
          <p:cNvSpPr/>
          <p:nvPr/>
        </p:nvSpPr>
        <p:spPr>
          <a:xfrm>
            <a:off x="7589520" y="4846320"/>
            <a:ext cx="3977639" cy="1325880"/>
          </a:xfrm>
          <a:prstGeom prst="roundRect">
            <a:avLst>
              <a:gd name="adj" fmla="val 9000"/>
            </a:avLst>
          </a:prstGeom>
          <a:solidFill>
            <a:srgbClr val="242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82127" y="5029200"/>
            <a:ext cx="3429000" cy="1005840"/>
          </a:xfrm>
          <a:prstGeom prst="rect">
            <a:avLst/>
          </a:prstGeom>
          <a:noFill/>
        </p:spPr>
        <p:txBody>
          <a:bodyPr wrap="square" anchor="t" lIns="0" rIns="0" tIns="0" bIns="0">
            <a:spAutoFit/>
          </a:bodyPr>
          <a:lstStyle/>
          <a:p>
            <a:pPr>
              <a:spcBef>
                <a:spcPts val="0"/>
              </a:spcBef>
              <a:spcAft>
                <a:spcPts val="0"/>
              </a:spcAft>
            </a:pPr>
            <a:r>
              <a:rPr sz="1700" b="1" i="0">
                <a:solidFill>
                  <a:srgbClr val="F2B33D"/>
                </a:solidFill>
                <a:latin typeface="Segoe UI"/>
              </a:rPr>
              <a:t>169 cibles</a:t>
            </a:r>
          </a:p>
          <a:p>
            <a:pPr>
              <a:spcBef>
                <a:spcPts val="300"/>
              </a:spcBef>
              <a:spcAft>
                <a:spcPts val="0"/>
              </a:spcAft>
            </a:pPr>
            <a:r>
              <a:rPr sz="1050" b="0" i="0">
                <a:solidFill>
                  <a:srgbClr val="A8AEBB"/>
                </a:solidFill>
                <a:latin typeface="Segoe UI"/>
              </a:rPr>
              <a:t>au total pour les 17 ODD ; l'ODD 1 en compte 7, dont nos deux cibles : 1.2 et 1.4.</a:t>
            </a:r>
          </a:p>
        </p:txBody>
      </p:sp>
      <p:sp>
        <p:nvSpPr>
          <p:cNvPr id="15" name="TextBox 14"/>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777D8A"/>
                </a:solidFill>
                <a:latin typeface="Segoe UI"/>
              </a:rPr>
              <a:t>Solidarité+  ·  ODD 1 — Pas de pauvreté  ·  EMSI 3IIR S5 — 2026</a:t>
            </a:r>
          </a:p>
        </p:txBody>
      </p:sp>
      <p:sp>
        <p:nvSpPr>
          <p:cNvPr id="16" name="Rounded Rectangle 15"/>
          <p:cNvSpPr/>
          <p:nvPr/>
        </p:nvSpPr>
        <p:spPr>
          <a:xfrm>
            <a:off x="11475720" y="6382512"/>
            <a:ext cx="384048" cy="384048"/>
          </a:xfrm>
          <a:prstGeom prst="roundRect">
            <a:avLst>
              <a:gd name="adj" fmla="val 28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14171F"/>
                </a:solidFill>
                <a:latin typeface="Segoe UI"/>
              </a:rPr>
              <a:t>2</a:t>
            </a:r>
          </a:p>
        </p:txBody>
      </p:sp>
      <p:sp>
        <p:nvSpPr>
          <p:cNvPr id="17" name="TextBox 16"/>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777D8A"/>
                </a:solidFill>
                <a:latin typeface="Segoe UI"/>
              </a:rPr>
              <a:t>≈ 1 min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1B1F29"/>
                </a:solidFill>
                <a:latin typeface="Segoe UI"/>
              </a:rPr>
              <a:t>02</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F2B33D"/>
                </a:solidFill>
                <a:latin typeface="Segoe UI"/>
              </a:rPr>
              <a:t>SECTION 1 · OBJECTIFS ET CIBLES</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2900" b="1" i="0">
                <a:solidFill>
                  <a:srgbClr val="F2F3F5"/>
                </a:solidFill>
                <a:latin typeface="Segoe UI"/>
              </a:rPr>
              <a:t>Que cherche à résoudre l'ODD 1 ? Les cibles clés</a:t>
            </a:r>
          </a:p>
        </p:txBody>
      </p:sp>
      <p:sp>
        <p:nvSpPr>
          <p:cNvPr id="6" name="Rectangle 5"/>
          <p:cNvSpPr/>
          <p:nvPr/>
        </p:nvSpPr>
        <p:spPr>
          <a:xfrm>
            <a:off x="612648" y="1481328"/>
            <a:ext cx="822960" cy="50292"/>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810512"/>
            <a:ext cx="6903720" cy="603504"/>
          </a:xfrm>
          <a:prstGeom prst="roundRect">
            <a:avLst>
              <a:gd name="adj" fmla="val 16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65376"/>
            <a:ext cx="685800" cy="502920"/>
          </a:xfrm>
          <a:prstGeom prst="rect">
            <a:avLst/>
          </a:prstGeom>
          <a:noFill/>
        </p:spPr>
        <p:txBody>
          <a:bodyPr wrap="square" anchor="ctr" lIns="0" rIns="0" tIns="0" bIns="0">
            <a:spAutoFit/>
          </a:bodyPr>
          <a:lstStyle/>
          <a:p>
            <a:pPr>
              <a:spcBef>
                <a:spcPts val="0"/>
              </a:spcBef>
              <a:spcAft>
                <a:spcPts val="0"/>
              </a:spcAft>
            </a:pPr>
            <a:r>
              <a:rPr sz="1500" b="1" i="0">
                <a:solidFill>
                  <a:srgbClr val="777D8A"/>
                </a:solidFill>
                <a:latin typeface="Segoe UI"/>
              </a:rPr>
              <a:t>1.1</a:t>
            </a:r>
          </a:p>
        </p:txBody>
      </p:sp>
      <p:sp>
        <p:nvSpPr>
          <p:cNvPr id="9" name="TextBox 8"/>
          <p:cNvSpPr txBox="1"/>
          <p:nvPr/>
        </p:nvSpPr>
        <p:spPr>
          <a:xfrm>
            <a:off x="1600200" y="1865376"/>
            <a:ext cx="5760720" cy="502920"/>
          </a:xfrm>
          <a:prstGeom prst="rect">
            <a:avLst/>
          </a:prstGeom>
          <a:noFill/>
        </p:spPr>
        <p:txBody>
          <a:bodyPr wrap="square" anchor="ctr" lIns="0" rIns="0" tIns="0" bIns="0">
            <a:spAutoFit/>
          </a:bodyPr>
          <a:lstStyle/>
          <a:p>
            <a:pPr>
              <a:spcBef>
                <a:spcPts val="0"/>
              </a:spcBef>
              <a:spcAft>
                <a:spcPts val="0"/>
              </a:spcAft>
            </a:pPr>
            <a:r>
              <a:rPr sz="1150" b="0" i="0">
                <a:solidFill>
                  <a:srgbClr val="A8AEBB"/>
                </a:solidFill>
                <a:latin typeface="Segoe UI"/>
              </a:rPr>
              <a:t>Éliminer l'extrême pauvreté partout (moins de 2,15 $ par jour).</a:t>
            </a:r>
          </a:p>
        </p:txBody>
      </p:sp>
      <p:sp>
        <p:nvSpPr>
          <p:cNvPr id="10" name="Rounded Rectangle 9"/>
          <p:cNvSpPr/>
          <p:nvPr/>
        </p:nvSpPr>
        <p:spPr>
          <a:xfrm>
            <a:off x="594360" y="2532888"/>
            <a:ext cx="6903720" cy="603504"/>
          </a:xfrm>
          <a:prstGeom prst="roundRect">
            <a:avLst>
              <a:gd name="adj" fmla="val 16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532888"/>
            <a:ext cx="82296" cy="603504"/>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587752"/>
            <a:ext cx="685800" cy="502920"/>
          </a:xfrm>
          <a:prstGeom prst="rect">
            <a:avLst/>
          </a:prstGeom>
          <a:noFill/>
        </p:spPr>
        <p:txBody>
          <a:bodyPr wrap="square" anchor="ctr" lIns="0" rIns="0" tIns="0" bIns="0">
            <a:spAutoFit/>
          </a:bodyPr>
          <a:lstStyle/>
          <a:p>
            <a:pPr>
              <a:spcBef>
                <a:spcPts val="0"/>
              </a:spcBef>
              <a:spcAft>
                <a:spcPts val="0"/>
              </a:spcAft>
            </a:pPr>
            <a:r>
              <a:rPr sz="1500" b="1" i="0">
                <a:solidFill>
                  <a:srgbClr val="F2B33D"/>
                </a:solidFill>
                <a:latin typeface="Segoe UI"/>
              </a:rPr>
              <a:t>1.2</a:t>
            </a:r>
          </a:p>
        </p:txBody>
      </p:sp>
      <p:sp>
        <p:nvSpPr>
          <p:cNvPr id="13" name="TextBox 12"/>
          <p:cNvSpPr txBox="1"/>
          <p:nvPr/>
        </p:nvSpPr>
        <p:spPr>
          <a:xfrm>
            <a:off x="1600200" y="2587752"/>
            <a:ext cx="4892040" cy="502920"/>
          </a:xfrm>
          <a:prstGeom prst="rect">
            <a:avLst/>
          </a:prstGeom>
          <a:noFill/>
        </p:spPr>
        <p:txBody>
          <a:bodyPr wrap="square" anchor="ctr" lIns="0" rIns="0" tIns="0" bIns="0">
            <a:spAutoFit/>
          </a:bodyPr>
          <a:lstStyle/>
          <a:p>
            <a:pPr>
              <a:spcBef>
                <a:spcPts val="0"/>
              </a:spcBef>
              <a:spcAft>
                <a:spcPts val="0"/>
              </a:spcAft>
            </a:pPr>
            <a:r>
              <a:rPr sz="1150" b="1" i="0">
                <a:solidFill>
                  <a:srgbClr val="F2F3F5"/>
                </a:solidFill>
                <a:latin typeface="Segoe UI"/>
              </a:rPr>
              <a:t>Réduire de moitié la pauvreté sous toutes ses formes, selon les définitions nationales.</a:t>
            </a:r>
          </a:p>
        </p:txBody>
      </p:sp>
      <p:sp>
        <p:nvSpPr>
          <p:cNvPr id="14" name="Rounded Rectangle 13"/>
          <p:cNvSpPr/>
          <p:nvPr/>
        </p:nvSpPr>
        <p:spPr>
          <a:xfrm>
            <a:off x="6720840" y="2688336"/>
            <a:ext cx="713232" cy="292608"/>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i="0">
                <a:solidFill>
                  <a:srgbClr val="14171F"/>
                </a:solidFill>
                <a:latin typeface="Segoe UI"/>
              </a:rPr>
              <a:t>NOUS</a:t>
            </a:r>
          </a:p>
        </p:txBody>
      </p:sp>
      <p:sp>
        <p:nvSpPr>
          <p:cNvPr id="15" name="Rounded Rectangle 14"/>
          <p:cNvSpPr/>
          <p:nvPr/>
        </p:nvSpPr>
        <p:spPr>
          <a:xfrm>
            <a:off x="594360" y="3255264"/>
            <a:ext cx="6903720" cy="603504"/>
          </a:xfrm>
          <a:prstGeom prst="roundRect">
            <a:avLst>
              <a:gd name="adj" fmla="val 16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310128"/>
            <a:ext cx="685800" cy="502920"/>
          </a:xfrm>
          <a:prstGeom prst="rect">
            <a:avLst/>
          </a:prstGeom>
          <a:noFill/>
        </p:spPr>
        <p:txBody>
          <a:bodyPr wrap="square" anchor="ctr" lIns="0" rIns="0" tIns="0" bIns="0">
            <a:spAutoFit/>
          </a:bodyPr>
          <a:lstStyle/>
          <a:p>
            <a:pPr>
              <a:spcBef>
                <a:spcPts val="0"/>
              </a:spcBef>
              <a:spcAft>
                <a:spcPts val="0"/>
              </a:spcAft>
            </a:pPr>
            <a:r>
              <a:rPr sz="1500" b="1" i="0">
                <a:solidFill>
                  <a:srgbClr val="777D8A"/>
                </a:solidFill>
                <a:latin typeface="Segoe UI"/>
              </a:rPr>
              <a:t>1.3</a:t>
            </a:r>
          </a:p>
        </p:txBody>
      </p:sp>
      <p:sp>
        <p:nvSpPr>
          <p:cNvPr id="17" name="TextBox 16"/>
          <p:cNvSpPr txBox="1"/>
          <p:nvPr/>
        </p:nvSpPr>
        <p:spPr>
          <a:xfrm>
            <a:off x="1600200" y="3310128"/>
            <a:ext cx="5760720" cy="502920"/>
          </a:xfrm>
          <a:prstGeom prst="rect">
            <a:avLst/>
          </a:prstGeom>
          <a:noFill/>
        </p:spPr>
        <p:txBody>
          <a:bodyPr wrap="square" anchor="ctr" lIns="0" rIns="0" tIns="0" bIns="0">
            <a:spAutoFit/>
          </a:bodyPr>
          <a:lstStyle/>
          <a:p>
            <a:pPr>
              <a:spcBef>
                <a:spcPts val="0"/>
              </a:spcBef>
              <a:spcAft>
                <a:spcPts val="0"/>
              </a:spcAft>
            </a:pPr>
            <a:r>
              <a:rPr sz="1150" b="0" i="0">
                <a:solidFill>
                  <a:srgbClr val="A8AEBB"/>
                </a:solidFill>
                <a:latin typeface="Segoe UI"/>
              </a:rPr>
              <a:t>Mettre en place des systèmes de protection sociale adaptés.</a:t>
            </a:r>
          </a:p>
        </p:txBody>
      </p:sp>
      <p:sp>
        <p:nvSpPr>
          <p:cNvPr id="18" name="Rounded Rectangle 17"/>
          <p:cNvSpPr/>
          <p:nvPr/>
        </p:nvSpPr>
        <p:spPr>
          <a:xfrm>
            <a:off x="594360" y="3977639"/>
            <a:ext cx="6903720" cy="603504"/>
          </a:xfrm>
          <a:prstGeom prst="roundRect">
            <a:avLst>
              <a:gd name="adj" fmla="val 16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3977639"/>
            <a:ext cx="82296" cy="603504"/>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032503"/>
            <a:ext cx="685800" cy="502920"/>
          </a:xfrm>
          <a:prstGeom prst="rect">
            <a:avLst/>
          </a:prstGeom>
          <a:noFill/>
        </p:spPr>
        <p:txBody>
          <a:bodyPr wrap="square" anchor="ctr" lIns="0" rIns="0" tIns="0" bIns="0">
            <a:spAutoFit/>
          </a:bodyPr>
          <a:lstStyle/>
          <a:p>
            <a:pPr>
              <a:spcBef>
                <a:spcPts val="0"/>
              </a:spcBef>
              <a:spcAft>
                <a:spcPts val="0"/>
              </a:spcAft>
            </a:pPr>
            <a:r>
              <a:rPr sz="1500" b="1" i="0">
                <a:solidFill>
                  <a:srgbClr val="F2B33D"/>
                </a:solidFill>
                <a:latin typeface="Segoe UI"/>
              </a:rPr>
              <a:t>1.4</a:t>
            </a:r>
          </a:p>
        </p:txBody>
      </p:sp>
      <p:sp>
        <p:nvSpPr>
          <p:cNvPr id="21" name="TextBox 20"/>
          <p:cNvSpPr txBox="1"/>
          <p:nvPr/>
        </p:nvSpPr>
        <p:spPr>
          <a:xfrm>
            <a:off x="1600200" y="4032503"/>
            <a:ext cx="4892040" cy="502920"/>
          </a:xfrm>
          <a:prstGeom prst="rect">
            <a:avLst/>
          </a:prstGeom>
          <a:noFill/>
        </p:spPr>
        <p:txBody>
          <a:bodyPr wrap="square" anchor="ctr" lIns="0" rIns="0" tIns="0" bIns="0">
            <a:spAutoFit/>
          </a:bodyPr>
          <a:lstStyle/>
          <a:p>
            <a:pPr>
              <a:spcBef>
                <a:spcPts val="0"/>
              </a:spcBef>
              <a:spcAft>
                <a:spcPts val="0"/>
              </a:spcAft>
            </a:pPr>
            <a:r>
              <a:rPr sz="1150" b="1" i="0">
                <a:solidFill>
                  <a:srgbClr val="F2F3F5"/>
                </a:solidFill>
                <a:latin typeface="Segoe UI"/>
              </a:rPr>
              <a:t>Garantir l'accès aux ressources de base et renforcer la résilience des personnes vulnérables.</a:t>
            </a:r>
          </a:p>
        </p:txBody>
      </p:sp>
      <p:sp>
        <p:nvSpPr>
          <p:cNvPr id="22" name="Rounded Rectangle 21"/>
          <p:cNvSpPr/>
          <p:nvPr/>
        </p:nvSpPr>
        <p:spPr>
          <a:xfrm>
            <a:off x="6720840" y="4133087"/>
            <a:ext cx="713232" cy="292608"/>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i="0">
                <a:solidFill>
                  <a:srgbClr val="14171F"/>
                </a:solidFill>
                <a:latin typeface="Segoe UI"/>
              </a:rPr>
              <a:t>NOUS</a:t>
            </a:r>
          </a:p>
        </p:txBody>
      </p:sp>
      <p:sp>
        <p:nvSpPr>
          <p:cNvPr id="23" name="Rounded Rectangle 22"/>
          <p:cNvSpPr/>
          <p:nvPr/>
        </p:nvSpPr>
        <p:spPr>
          <a:xfrm>
            <a:off x="594360" y="4700016"/>
            <a:ext cx="6903720" cy="603504"/>
          </a:xfrm>
          <a:prstGeom prst="roundRect">
            <a:avLst>
              <a:gd name="adj" fmla="val 16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754879"/>
            <a:ext cx="685800" cy="502920"/>
          </a:xfrm>
          <a:prstGeom prst="rect">
            <a:avLst/>
          </a:prstGeom>
          <a:noFill/>
        </p:spPr>
        <p:txBody>
          <a:bodyPr wrap="square" anchor="ctr" lIns="0" rIns="0" tIns="0" bIns="0">
            <a:spAutoFit/>
          </a:bodyPr>
          <a:lstStyle/>
          <a:p>
            <a:pPr>
              <a:spcBef>
                <a:spcPts val="0"/>
              </a:spcBef>
              <a:spcAft>
                <a:spcPts val="0"/>
              </a:spcAft>
            </a:pPr>
            <a:r>
              <a:rPr sz="1500" b="1" i="0">
                <a:solidFill>
                  <a:srgbClr val="777D8A"/>
                </a:solidFill>
                <a:latin typeface="Segoe UI"/>
              </a:rPr>
              <a:t>1.5</a:t>
            </a:r>
          </a:p>
        </p:txBody>
      </p:sp>
      <p:sp>
        <p:nvSpPr>
          <p:cNvPr id="25" name="TextBox 24"/>
          <p:cNvSpPr txBox="1"/>
          <p:nvPr/>
        </p:nvSpPr>
        <p:spPr>
          <a:xfrm>
            <a:off x="1600200" y="4754879"/>
            <a:ext cx="5760720" cy="502920"/>
          </a:xfrm>
          <a:prstGeom prst="rect">
            <a:avLst/>
          </a:prstGeom>
          <a:noFill/>
        </p:spPr>
        <p:txBody>
          <a:bodyPr wrap="square" anchor="ctr" lIns="0" rIns="0" tIns="0" bIns="0">
            <a:spAutoFit/>
          </a:bodyPr>
          <a:lstStyle/>
          <a:p>
            <a:pPr>
              <a:spcBef>
                <a:spcPts val="0"/>
              </a:spcBef>
              <a:spcAft>
                <a:spcPts val="0"/>
              </a:spcAft>
            </a:pPr>
            <a:r>
              <a:rPr sz="1150" b="0" i="0">
                <a:solidFill>
                  <a:srgbClr val="A8AEBB"/>
                </a:solidFill>
                <a:latin typeface="Segoe UI"/>
              </a:rPr>
              <a:t>Réduire l'exposition aux chocs économiques, sociaux et environnementaux.</a:t>
            </a:r>
          </a:p>
        </p:txBody>
      </p:sp>
      <p:sp>
        <p:nvSpPr>
          <p:cNvPr id="26" name="Rounded Rectangle 25"/>
          <p:cNvSpPr/>
          <p:nvPr/>
        </p:nvSpPr>
        <p:spPr>
          <a:xfrm>
            <a:off x="594360" y="5422392"/>
            <a:ext cx="6903720" cy="603504"/>
          </a:xfrm>
          <a:prstGeom prst="roundRect">
            <a:avLst>
              <a:gd name="adj" fmla="val 16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477255"/>
            <a:ext cx="685800" cy="502920"/>
          </a:xfrm>
          <a:prstGeom prst="rect">
            <a:avLst/>
          </a:prstGeom>
          <a:noFill/>
        </p:spPr>
        <p:txBody>
          <a:bodyPr wrap="square" anchor="ctr" lIns="0" rIns="0" tIns="0" bIns="0">
            <a:spAutoFit/>
          </a:bodyPr>
          <a:lstStyle/>
          <a:p>
            <a:pPr>
              <a:spcBef>
                <a:spcPts val="0"/>
              </a:spcBef>
              <a:spcAft>
                <a:spcPts val="0"/>
              </a:spcAft>
            </a:pPr>
            <a:r>
              <a:rPr sz="1500" b="1" i="0">
                <a:solidFill>
                  <a:srgbClr val="777D8A"/>
                </a:solidFill>
                <a:latin typeface="Segoe UI"/>
              </a:rPr>
              <a:t>1.a</a:t>
            </a:r>
          </a:p>
        </p:txBody>
      </p:sp>
      <p:sp>
        <p:nvSpPr>
          <p:cNvPr id="28" name="TextBox 27"/>
          <p:cNvSpPr txBox="1"/>
          <p:nvPr/>
        </p:nvSpPr>
        <p:spPr>
          <a:xfrm>
            <a:off x="1600200" y="5477255"/>
            <a:ext cx="5760720" cy="502920"/>
          </a:xfrm>
          <a:prstGeom prst="rect">
            <a:avLst/>
          </a:prstGeom>
          <a:noFill/>
        </p:spPr>
        <p:txBody>
          <a:bodyPr wrap="square" anchor="ctr" lIns="0" rIns="0" tIns="0" bIns="0">
            <a:spAutoFit/>
          </a:bodyPr>
          <a:lstStyle/>
          <a:p>
            <a:pPr>
              <a:spcBef>
                <a:spcPts val="0"/>
              </a:spcBef>
              <a:spcAft>
                <a:spcPts val="0"/>
              </a:spcAft>
            </a:pPr>
            <a:r>
              <a:rPr sz="1150" b="0" i="0">
                <a:solidFill>
                  <a:srgbClr val="A8AEBB"/>
                </a:solidFill>
                <a:latin typeface="Segoe UI"/>
              </a:rPr>
              <a:t>Mobiliser des ressources pour les pays en développement.</a:t>
            </a:r>
          </a:p>
        </p:txBody>
      </p:sp>
      <p:sp>
        <p:nvSpPr>
          <p:cNvPr id="29" name="Rounded Rectangle 28"/>
          <p:cNvSpPr/>
          <p:nvPr/>
        </p:nvSpPr>
        <p:spPr>
          <a:xfrm>
            <a:off x="7726679" y="1810512"/>
            <a:ext cx="3840480" cy="2103120"/>
          </a:xfrm>
          <a:prstGeom prst="roundRect">
            <a:avLst>
              <a:gd name="adj" fmla="val 6000"/>
            </a:avLst>
          </a:prstGeom>
          <a:solidFill>
            <a:srgbClr val="242935"/>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1" y="2011680"/>
            <a:ext cx="3291840" cy="1828800"/>
          </a:xfrm>
          <a:prstGeom prst="rect">
            <a:avLst/>
          </a:prstGeom>
          <a:noFill/>
        </p:spPr>
        <p:txBody>
          <a:bodyPr wrap="square" anchor="t" lIns="0" rIns="0" tIns="0" bIns="0">
            <a:spAutoFit/>
          </a:bodyPr>
          <a:lstStyle/>
          <a:p>
            <a:pPr>
              <a:spcBef>
                <a:spcPts val="0"/>
              </a:spcBef>
              <a:spcAft>
                <a:spcPts val="0"/>
              </a:spcAft>
            </a:pPr>
            <a:r>
              <a:rPr sz="1350" b="1" i="0">
                <a:solidFill>
                  <a:srgbClr val="F2B33D"/>
                </a:solidFill>
                <a:latin typeface="Segoe UI"/>
              </a:rPr>
              <a:t>Cible 1.2 — notre cap</a:t>
            </a:r>
          </a:p>
          <a:p>
            <a:pPr>
              <a:spcBef>
                <a:spcPts val="600"/>
              </a:spcBef>
              <a:spcAft>
                <a:spcPts val="0"/>
              </a:spcAft>
            </a:pPr>
            <a:r>
              <a:rPr sz="1100" b="0" i="0">
                <a:solidFill>
                  <a:srgbClr val="A8AEBB"/>
                </a:solidFill>
                <a:latin typeface="Segoe UI"/>
              </a:rPr>
              <a:t>Réduire de moitié, d'ici 2030, la proportion d'hommes, de femmes et d'enfants vivant dans la pauvreté sous toutes ses formes.</a:t>
            </a:r>
          </a:p>
          <a:p>
            <a:pPr>
              <a:spcBef>
                <a:spcPts val="600"/>
              </a:spcBef>
              <a:spcAft>
                <a:spcPts val="0"/>
              </a:spcAft>
            </a:pPr>
            <a:r>
              <a:rPr sz="1050" b="1" i="0">
                <a:solidFill>
                  <a:srgbClr val="F2F3F5"/>
                </a:solidFill>
                <a:latin typeface="Segoe UI"/>
              </a:rPr>
              <a:t>→ Rendre les biens essentiels accessibles sans coût, au niveau du quartier.</a:t>
            </a:r>
          </a:p>
        </p:txBody>
      </p:sp>
      <p:sp>
        <p:nvSpPr>
          <p:cNvPr id="31" name="Rounded Rectangle 30"/>
          <p:cNvSpPr/>
          <p:nvPr/>
        </p:nvSpPr>
        <p:spPr>
          <a:xfrm>
            <a:off x="7726679" y="4069080"/>
            <a:ext cx="3840480" cy="2103120"/>
          </a:xfrm>
          <a:prstGeom prst="roundRect">
            <a:avLst>
              <a:gd name="adj" fmla="val 6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28431" y="4270248"/>
            <a:ext cx="3291840" cy="1828800"/>
          </a:xfrm>
          <a:prstGeom prst="rect">
            <a:avLst/>
          </a:prstGeom>
          <a:noFill/>
        </p:spPr>
        <p:txBody>
          <a:bodyPr wrap="square" anchor="t" lIns="0" rIns="0" tIns="0" bIns="0">
            <a:spAutoFit/>
          </a:bodyPr>
          <a:lstStyle/>
          <a:p>
            <a:pPr>
              <a:spcBef>
                <a:spcPts val="0"/>
              </a:spcBef>
              <a:spcAft>
                <a:spcPts val="0"/>
              </a:spcAft>
            </a:pPr>
            <a:r>
              <a:rPr sz="1350" b="1" i="0">
                <a:solidFill>
                  <a:srgbClr val="F2B33D"/>
                </a:solidFill>
                <a:latin typeface="Segoe UI"/>
              </a:rPr>
              <a:t>Cible 1.4 — notre levier</a:t>
            </a:r>
          </a:p>
          <a:p>
            <a:pPr>
              <a:spcBef>
                <a:spcPts val="600"/>
              </a:spcBef>
              <a:spcAft>
                <a:spcPts val="0"/>
              </a:spcAft>
            </a:pPr>
            <a:r>
              <a:rPr sz="1100" b="0" i="0">
                <a:solidFill>
                  <a:srgbClr val="A8AEBB"/>
                </a:solidFill>
                <a:latin typeface="Segoe UI"/>
              </a:rPr>
              <a:t>Renforcer la résilience des personnes vulnérables et réduire leur exposition aux chocs économiques et sociaux.</a:t>
            </a:r>
          </a:p>
          <a:p>
            <a:pPr>
              <a:spcBef>
                <a:spcPts val="600"/>
              </a:spcBef>
              <a:spcAft>
                <a:spcPts val="0"/>
              </a:spcAft>
            </a:pPr>
            <a:r>
              <a:rPr sz="1050" b="1" i="0">
                <a:solidFill>
                  <a:srgbClr val="F2F3F5"/>
                </a:solidFill>
                <a:latin typeface="Segoe UI"/>
              </a:rPr>
              <a:t>→ Éliminer le coût d'accès à l'aide : zéro argent, zéro justificatif, zéro humiliation.</a:t>
            </a:r>
          </a:p>
        </p:txBody>
      </p:sp>
      <p:sp>
        <p:nvSpPr>
          <p:cNvPr id="33" name="TextBox 32"/>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777D8A"/>
                </a:solidFill>
                <a:latin typeface="Segoe UI"/>
              </a:rPr>
              <a:t>Solidarité+  ·  ODD 1 — Pas de pauvreté  ·  EMSI 3IIR S5 — 2026</a:t>
            </a:r>
          </a:p>
        </p:txBody>
      </p:sp>
      <p:sp>
        <p:nvSpPr>
          <p:cNvPr id="34" name="Rounded Rectangle 33"/>
          <p:cNvSpPr/>
          <p:nvPr/>
        </p:nvSpPr>
        <p:spPr>
          <a:xfrm>
            <a:off x="11475720" y="6382512"/>
            <a:ext cx="384048" cy="384048"/>
          </a:xfrm>
          <a:prstGeom prst="roundRect">
            <a:avLst>
              <a:gd name="adj" fmla="val 28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14171F"/>
                </a:solidFill>
                <a:latin typeface="Segoe UI"/>
              </a:rPr>
              <a:t>3</a:t>
            </a:r>
          </a:p>
        </p:txBody>
      </p:sp>
      <p:sp>
        <p:nvSpPr>
          <p:cNvPr id="35" name="TextBox 34"/>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777D8A"/>
                </a:solidFill>
                <a:latin typeface="Segoe UI"/>
              </a:rPr>
              <a:t>≈ 1 min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1B1F29"/>
                </a:solidFill>
                <a:latin typeface="Segoe UI"/>
              </a:rPr>
              <a:t>03</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F2B33D"/>
                </a:solidFill>
                <a:latin typeface="Segoe UI"/>
              </a:rPr>
              <a:t>SECTION 1 · LES ENJEUX</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2900" b="1" i="0">
                <a:solidFill>
                  <a:srgbClr val="F2F3F5"/>
                </a:solidFill>
                <a:latin typeface="Segoe UI"/>
              </a:rPr>
              <a:t>Pourquoi l'ODD 1 est-il un enjeu majeur ?</a:t>
            </a:r>
          </a:p>
        </p:txBody>
      </p:sp>
      <p:sp>
        <p:nvSpPr>
          <p:cNvPr id="6" name="Rectangle 5"/>
          <p:cNvSpPr/>
          <p:nvPr/>
        </p:nvSpPr>
        <p:spPr>
          <a:xfrm>
            <a:off x="612648" y="1481328"/>
            <a:ext cx="822960" cy="50292"/>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810512"/>
            <a:ext cx="3611880" cy="2331720"/>
          </a:xfrm>
          <a:prstGeom prst="roundRect">
            <a:avLst>
              <a:gd name="adj" fmla="val 55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82296" cy="2331720"/>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029967"/>
            <a:ext cx="3108960" cy="1965960"/>
          </a:xfrm>
          <a:prstGeom prst="rect">
            <a:avLst/>
          </a:prstGeom>
          <a:noFill/>
        </p:spPr>
        <p:txBody>
          <a:bodyPr wrap="square" anchor="t" lIns="0" rIns="0" tIns="0" bIns="0">
            <a:spAutoFit/>
          </a:bodyPr>
          <a:lstStyle/>
          <a:p>
            <a:pPr>
              <a:spcBef>
                <a:spcPts val="0"/>
              </a:spcBef>
              <a:spcAft>
                <a:spcPts val="600"/>
              </a:spcAft>
            </a:pPr>
            <a:r>
              <a:rPr sz="1400" b="1" i="0">
                <a:solidFill>
                  <a:srgbClr val="F2F3F5"/>
                </a:solidFill>
                <a:latin typeface="Segoe UI"/>
              </a:rPr>
              <a:t>Enjeu social</a:t>
            </a:r>
          </a:p>
          <a:p>
            <a:pPr marL="219456" indent="-219456">
              <a:spcBef>
                <a:spcPts val="500"/>
              </a:spcBef>
              <a:spcAft>
                <a:spcPts val="0"/>
              </a:spcAft>
              <a:buClr>
                <a:srgbClr val="F2B33D"/>
              </a:buClr>
              <a:buSzPct val="60000"/>
              <a:buFont typeface="Arial"/>
              <a:buChar char="■"/>
            </a:pPr>
            <a:r>
              <a:rPr sz="1100" b="0" i="0">
                <a:solidFill>
                  <a:srgbClr val="A8AEBB"/>
                </a:solidFill>
                <a:latin typeface="Segoe UI"/>
              </a:rPr>
              <a:t>Pauvreté = exclusion : santé, école, hygiène en souffrent d'abord.</a:t>
            </a:r>
          </a:p>
          <a:p>
            <a:pPr marL="219456" indent="-219456">
              <a:spcBef>
                <a:spcPts val="500"/>
              </a:spcBef>
              <a:spcAft>
                <a:spcPts val="0"/>
              </a:spcAft>
              <a:buClr>
                <a:srgbClr val="F2B33D"/>
              </a:buClr>
              <a:buSzPct val="60000"/>
              <a:buFont typeface="Arial"/>
              <a:buChar char="■"/>
            </a:pPr>
            <a:r>
              <a:rPr sz="1100" b="0" i="0">
                <a:solidFill>
                  <a:srgbClr val="A8AEBB"/>
                </a:solidFill>
                <a:latin typeface="Segoe UI"/>
              </a:rPr>
              <a:t>Les enfants sont les premières victimes : cartable, manteau, fournitures.</a:t>
            </a:r>
          </a:p>
          <a:p>
            <a:pPr marL="219456" indent="-219456">
              <a:spcBef>
                <a:spcPts val="500"/>
              </a:spcBef>
              <a:spcAft>
                <a:spcPts val="0"/>
              </a:spcAft>
              <a:buClr>
                <a:srgbClr val="F2B33D"/>
              </a:buClr>
              <a:buSzPct val="60000"/>
              <a:buFont typeface="Arial"/>
              <a:buChar char="■"/>
            </a:pPr>
            <a:r>
              <a:rPr sz="1100" b="0" i="0">
                <a:solidFill>
                  <a:srgbClr val="A8AEBB"/>
                </a:solidFill>
                <a:latin typeface="Segoe UI"/>
              </a:rPr>
              <a:t>Demander de l'aide reste souvent stigmatisant.</a:t>
            </a:r>
          </a:p>
        </p:txBody>
      </p:sp>
      <p:sp>
        <p:nvSpPr>
          <p:cNvPr id="10" name="Rounded Rectangle 9"/>
          <p:cNvSpPr/>
          <p:nvPr/>
        </p:nvSpPr>
        <p:spPr>
          <a:xfrm>
            <a:off x="4315968" y="1810512"/>
            <a:ext cx="3611880" cy="2331720"/>
          </a:xfrm>
          <a:prstGeom prst="roundRect">
            <a:avLst>
              <a:gd name="adj" fmla="val 55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15968" y="1810512"/>
            <a:ext cx="82296" cy="2331720"/>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2029967"/>
            <a:ext cx="3108960" cy="1965960"/>
          </a:xfrm>
          <a:prstGeom prst="rect">
            <a:avLst/>
          </a:prstGeom>
          <a:noFill/>
        </p:spPr>
        <p:txBody>
          <a:bodyPr wrap="square" anchor="t" lIns="0" rIns="0" tIns="0" bIns="0">
            <a:spAutoFit/>
          </a:bodyPr>
          <a:lstStyle/>
          <a:p>
            <a:pPr>
              <a:spcBef>
                <a:spcPts val="0"/>
              </a:spcBef>
              <a:spcAft>
                <a:spcPts val="600"/>
              </a:spcAft>
            </a:pPr>
            <a:r>
              <a:rPr sz="1400" b="1" i="0">
                <a:solidFill>
                  <a:srgbClr val="F2F3F5"/>
                </a:solidFill>
                <a:latin typeface="Segoe UI"/>
              </a:rPr>
              <a:t>Enjeu économique</a:t>
            </a:r>
          </a:p>
          <a:p>
            <a:pPr marL="219456" indent="-219456">
              <a:spcBef>
                <a:spcPts val="500"/>
              </a:spcBef>
              <a:spcAft>
                <a:spcPts val="0"/>
              </a:spcAft>
              <a:buClr>
                <a:srgbClr val="F2B33D"/>
              </a:buClr>
              <a:buSzPct val="60000"/>
              <a:buFont typeface="Arial"/>
              <a:buChar char="■"/>
            </a:pPr>
            <a:r>
              <a:rPr sz="1100" b="0" i="0">
                <a:solidFill>
                  <a:srgbClr val="A8AEBB"/>
                </a:solidFill>
                <a:latin typeface="Segoe UI"/>
              </a:rPr>
              <a:t>Vulnérabilité aux crises : chômage, inflation, maladies.</a:t>
            </a:r>
          </a:p>
          <a:p>
            <a:pPr marL="219456" indent="-219456">
              <a:spcBef>
                <a:spcPts val="500"/>
              </a:spcBef>
              <a:spcAft>
                <a:spcPts val="0"/>
              </a:spcAft>
              <a:buClr>
                <a:srgbClr val="F2B33D"/>
              </a:buClr>
              <a:buSzPct val="60000"/>
              <a:buFont typeface="Arial"/>
              <a:buChar char="■"/>
            </a:pPr>
            <a:r>
              <a:rPr sz="1100" b="0" i="0">
                <a:solidFill>
                  <a:srgbClr val="A8AEBB"/>
                </a:solidFill>
                <a:latin typeface="Segoe UI"/>
              </a:rPr>
              <a:t>Les inégalités creusent l'instabilité des économies.</a:t>
            </a:r>
          </a:p>
          <a:p>
            <a:pPr marL="219456" indent="-219456">
              <a:spcBef>
                <a:spcPts val="500"/>
              </a:spcBef>
              <a:spcAft>
                <a:spcPts val="0"/>
              </a:spcAft>
              <a:buClr>
                <a:srgbClr val="F2B33D"/>
              </a:buClr>
              <a:buSzPct val="60000"/>
              <a:buFont typeface="Arial"/>
              <a:buChar char="■"/>
            </a:pPr>
            <a:r>
              <a:rPr sz="1100" b="0" i="0">
                <a:solidFill>
                  <a:srgbClr val="A8AEBB"/>
                </a:solidFill>
                <a:latin typeface="Segoe UI"/>
              </a:rPr>
              <a:t>Un budget accaparé par le strict nécessaire ne peut pas investir.</a:t>
            </a:r>
          </a:p>
        </p:txBody>
      </p:sp>
      <p:sp>
        <p:nvSpPr>
          <p:cNvPr id="13" name="Rounded Rectangle 12"/>
          <p:cNvSpPr/>
          <p:nvPr/>
        </p:nvSpPr>
        <p:spPr>
          <a:xfrm>
            <a:off x="8037575" y="1810512"/>
            <a:ext cx="3566160" cy="2331720"/>
          </a:xfrm>
          <a:prstGeom prst="roundRect">
            <a:avLst>
              <a:gd name="adj" fmla="val 55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7575" y="1810512"/>
            <a:ext cx="82296" cy="2331720"/>
          </a:xfrm>
          <a:prstGeom prst="rect">
            <a:avLst/>
          </a:prstGeom>
          <a:solidFill>
            <a:srgbClr val="37B8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2029967"/>
            <a:ext cx="3063239" cy="1965960"/>
          </a:xfrm>
          <a:prstGeom prst="rect">
            <a:avLst/>
          </a:prstGeom>
          <a:noFill/>
        </p:spPr>
        <p:txBody>
          <a:bodyPr wrap="square" anchor="t" lIns="0" rIns="0" tIns="0" bIns="0">
            <a:spAutoFit/>
          </a:bodyPr>
          <a:lstStyle/>
          <a:p>
            <a:pPr>
              <a:spcBef>
                <a:spcPts val="0"/>
              </a:spcBef>
              <a:spcAft>
                <a:spcPts val="600"/>
              </a:spcAft>
            </a:pPr>
            <a:r>
              <a:rPr sz="1400" b="1" i="0">
                <a:solidFill>
                  <a:srgbClr val="F2F3F5"/>
                </a:solidFill>
                <a:latin typeface="Segoe UI"/>
              </a:rPr>
              <a:t>Enjeu environnemental</a:t>
            </a:r>
          </a:p>
          <a:p>
            <a:pPr marL="219456" indent="-219456">
              <a:spcBef>
                <a:spcPts val="500"/>
              </a:spcBef>
              <a:spcAft>
                <a:spcPts val="0"/>
              </a:spcAft>
              <a:buClr>
                <a:srgbClr val="F2B33D"/>
              </a:buClr>
              <a:buSzPct val="60000"/>
              <a:buFont typeface="Arial"/>
              <a:buChar char="■"/>
            </a:pPr>
            <a:r>
              <a:rPr sz="1100" b="0" i="0">
                <a:solidFill>
                  <a:srgbClr val="A8AEBB"/>
                </a:solidFill>
                <a:latin typeface="Segoe UI"/>
              </a:rPr>
              <a:t>La pauvreté force à vivre avec le minimum… ou le déchet.</a:t>
            </a:r>
          </a:p>
          <a:p>
            <a:pPr marL="219456" indent="-219456">
              <a:spcBef>
                <a:spcPts val="500"/>
              </a:spcBef>
              <a:spcAft>
                <a:spcPts val="0"/>
              </a:spcAft>
              <a:buClr>
                <a:srgbClr val="F2B33D"/>
              </a:buClr>
              <a:buSzPct val="60000"/>
              <a:buFont typeface="Arial"/>
              <a:buChar char="■"/>
            </a:pPr>
            <a:r>
              <a:rPr sz="1100" b="0" i="0">
                <a:solidFill>
                  <a:srgbClr val="A8AEBB"/>
                </a:solidFill>
                <a:latin typeface="Segoe UI"/>
              </a:rPr>
              <a:t>Dans le même temps, l'essentiel jetable est gaspillé.</a:t>
            </a:r>
          </a:p>
          <a:p>
            <a:pPr marL="219456" indent="-219456">
              <a:spcBef>
                <a:spcPts val="500"/>
              </a:spcBef>
              <a:spcAft>
                <a:spcPts val="0"/>
              </a:spcAft>
              <a:buClr>
                <a:srgbClr val="F2B33D"/>
              </a:buClr>
              <a:buSzPct val="60000"/>
              <a:buFont typeface="Arial"/>
              <a:buChar char="■"/>
            </a:pPr>
            <a:r>
              <a:rPr sz="1100" b="0" i="0">
                <a:solidFill>
                  <a:srgbClr val="A8AEBB"/>
                </a:solidFill>
                <a:latin typeface="Segoe UI"/>
              </a:rPr>
              <a:t>Le réemploi réduit déchets et achats neufs.</a:t>
            </a:r>
          </a:p>
        </p:txBody>
      </p:sp>
      <p:sp>
        <p:nvSpPr>
          <p:cNvPr id="16" name="Rounded Rectangle 15"/>
          <p:cNvSpPr/>
          <p:nvPr/>
        </p:nvSpPr>
        <p:spPr>
          <a:xfrm>
            <a:off x="594360" y="4343400"/>
            <a:ext cx="11009376" cy="1783080"/>
          </a:xfrm>
          <a:prstGeom prst="roundRect">
            <a:avLst>
              <a:gd name="adj" fmla="val 6000"/>
            </a:avLst>
          </a:prstGeom>
          <a:solidFill>
            <a:srgbClr val="242935"/>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553712"/>
            <a:ext cx="10332720" cy="1371600"/>
          </a:xfrm>
          <a:prstGeom prst="rect">
            <a:avLst/>
          </a:prstGeom>
          <a:noFill/>
        </p:spPr>
        <p:txBody>
          <a:bodyPr wrap="square" anchor="t" lIns="0" rIns="0" tIns="0" bIns="0">
            <a:spAutoFit/>
          </a:bodyPr>
          <a:lstStyle/>
          <a:p>
            <a:pPr>
              <a:spcBef>
                <a:spcPts val="0"/>
              </a:spcBef>
              <a:spcAft>
                <a:spcPts val="0"/>
              </a:spcAft>
            </a:pPr>
            <a:r>
              <a:rPr sz="1450" b="1" i="0">
                <a:solidFill>
                  <a:srgbClr val="F2B33D"/>
                </a:solidFill>
                <a:latin typeface="Segoe UI"/>
              </a:rPr>
              <a:t>Qu'est-ce qui freine la réalisation de l'ODD 1 ?</a:t>
            </a:r>
          </a:p>
        </p:txBody>
      </p:sp>
      <p:sp>
        <p:nvSpPr>
          <p:cNvPr id="18" name="TextBox 17"/>
          <p:cNvSpPr txBox="1"/>
          <p:nvPr/>
        </p:nvSpPr>
        <p:spPr>
          <a:xfrm>
            <a:off x="914400" y="5074920"/>
            <a:ext cx="2423160" cy="914400"/>
          </a:xfrm>
          <a:prstGeom prst="rect">
            <a:avLst/>
          </a:prstGeom>
          <a:noFill/>
        </p:spPr>
        <p:txBody>
          <a:bodyPr wrap="square" anchor="t" lIns="0" rIns="0" tIns="0" bIns="0">
            <a:spAutoFit/>
          </a:bodyPr>
          <a:lstStyle/>
          <a:p>
            <a:pPr>
              <a:spcBef>
                <a:spcPts val="0"/>
              </a:spcBef>
              <a:spcAft>
                <a:spcPts val="0"/>
              </a:spcAft>
            </a:pPr>
            <a:r>
              <a:rPr sz="900" b="0" i="0">
                <a:solidFill>
                  <a:srgbClr val="F2B33D"/>
                </a:solidFill>
                <a:latin typeface="Segoe UI"/>
              </a:rPr>
              <a:t>■</a:t>
            </a:r>
            <a:r>
              <a:rPr sz="1100" b="1" i="0">
                <a:solidFill>
                  <a:srgbClr val="F2F3F5"/>
                </a:solidFill>
                <a:latin typeface="Segoe UI"/>
              </a:rPr>
              <a:t>  Conflits et crises</a:t>
            </a:r>
          </a:p>
          <a:p>
            <a:pPr>
              <a:spcBef>
                <a:spcPts val="300"/>
              </a:spcBef>
              <a:spcAft>
                <a:spcPts val="0"/>
              </a:spcAft>
            </a:pPr>
            <a:r>
              <a:rPr sz="950" b="0" i="0">
                <a:solidFill>
                  <a:srgbClr val="777D8A"/>
                </a:solidFill>
                <a:latin typeface="Segoe UI"/>
              </a:rPr>
              <a:t>repartir à zéro, déplacements de population</a:t>
            </a:r>
          </a:p>
        </p:txBody>
      </p:sp>
      <p:sp>
        <p:nvSpPr>
          <p:cNvPr id="19" name="TextBox 18"/>
          <p:cNvSpPr txBox="1"/>
          <p:nvPr/>
        </p:nvSpPr>
        <p:spPr>
          <a:xfrm>
            <a:off x="3520440" y="5074920"/>
            <a:ext cx="2423160" cy="914400"/>
          </a:xfrm>
          <a:prstGeom prst="rect">
            <a:avLst/>
          </a:prstGeom>
          <a:noFill/>
        </p:spPr>
        <p:txBody>
          <a:bodyPr wrap="square" anchor="t" lIns="0" rIns="0" tIns="0" bIns="0">
            <a:spAutoFit/>
          </a:bodyPr>
          <a:lstStyle/>
          <a:p>
            <a:pPr>
              <a:spcBef>
                <a:spcPts val="0"/>
              </a:spcBef>
              <a:spcAft>
                <a:spcPts val="0"/>
              </a:spcAft>
            </a:pPr>
            <a:r>
              <a:rPr sz="900" b="0" i="0">
                <a:solidFill>
                  <a:srgbClr val="F2B33D"/>
                </a:solidFill>
                <a:latin typeface="Segoe UI"/>
              </a:rPr>
              <a:t>■</a:t>
            </a:r>
            <a:r>
              <a:rPr sz="1100" b="1" i="0">
                <a:solidFill>
                  <a:srgbClr val="F2F3F5"/>
                </a:solidFill>
                <a:latin typeface="Segoe UI"/>
              </a:rPr>
              <a:t>  Inégalités croissantes</a:t>
            </a:r>
          </a:p>
          <a:p>
            <a:pPr>
              <a:spcBef>
                <a:spcPts val="300"/>
              </a:spcBef>
              <a:spcAft>
                <a:spcPts val="0"/>
              </a:spcAft>
            </a:pPr>
            <a:r>
              <a:rPr sz="950" b="0" i="0">
                <a:solidFill>
                  <a:srgbClr val="777D8A"/>
                </a:solidFill>
                <a:latin typeface="Segoe UI"/>
              </a:rPr>
              <a:t>la croissance ne profite pas aux plus pauvres</a:t>
            </a:r>
          </a:p>
        </p:txBody>
      </p:sp>
      <p:sp>
        <p:nvSpPr>
          <p:cNvPr id="20" name="TextBox 19"/>
          <p:cNvSpPr txBox="1"/>
          <p:nvPr/>
        </p:nvSpPr>
        <p:spPr>
          <a:xfrm>
            <a:off x="6126480" y="5074920"/>
            <a:ext cx="2423160" cy="914400"/>
          </a:xfrm>
          <a:prstGeom prst="rect">
            <a:avLst/>
          </a:prstGeom>
          <a:noFill/>
        </p:spPr>
        <p:txBody>
          <a:bodyPr wrap="square" anchor="t" lIns="0" rIns="0" tIns="0" bIns="0">
            <a:spAutoFit/>
          </a:bodyPr>
          <a:lstStyle/>
          <a:p>
            <a:pPr>
              <a:spcBef>
                <a:spcPts val="0"/>
              </a:spcBef>
              <a:spcAft>
                <a:spcPts val="0"/>
              </a:spcAft>
            </a:pPr>
            <a:r>
              <a:rPr sz="900" b="0" i="0">
                <a:solidFill>
                  <a:srgbClr val="F2B33D"/>
                </a:solidFill>
                <a:latin typeface="Segoe UI"/>
              </a:rPr>
              <a:t>■</a:t>
            </a:r>
            <a:r>
              <a:rPr sz="1100" b="1" i="0">
                <a:solidFill>
                  <a:srgbClr val="F2F3F5"/>
                </a:solidFill>
                <a:latin typeface="Segoe UI"/>
              </a:rPr>
              <a:t>  Protection sociale incomplète</a:t>
            </a:r>
          </a:p>
          <a:p>
            <a:pPr>
              <a:spcBef>
                <a:spcPts val="300"/>
              </a:spcBef>
              <a:spcAft>
                <a:spcPts val="0"/>
              </a:spcAft>
            </a:pPr>
            <a:r>
              <a:rPr sz="950" b="0" i="0">
                <a:solidFill>
                  <a:srgbClr val="777D8A"/>
                </a:solidFill>
                <a:latin typeface="Segoe UI"/>
              </a:rPr>
              <a:t>des millions de personnes sans filet</a:t>
            </a:r>
          </a:p>
        </p:txBody>
      </p:sp>
      <p:sp>
        <p:nvSpPr>
          <p:cNvPr id="21" name="TextBox 20"/>
          <p:cNvSpPr txBox="1"/>
          <p:nvPr/>
        </p:nvSpPr>
        <p:spPr>
          <a:xfrm>
            <a:off x="8732520" y="5074920"/>
            <a:ext cx="2423160" cy="914400"/>
          </a:xfrm>
          <a:prstGeom prst="rect">
            <a:avLst/>
          </a:prstGeom>
          <a:noFill/>
        </p:spPr>
        <p:txBody>
          <a:bodyPr wrap="square" anchor="t" lIns="0" rIns="0" tIns="0" bIns="0">
            <a:spAutoFit/>
          </a:bodyPr>
          <a:lstStyle/>
          <a:p>
            <a:pPr>
              <a:spcBef>
                <a:spcPts val="0"/>
              </a:spcBef>
              <a:spcAft>
                <a:spcPts val="0"/>
              </a:spcAft>
            </a:pPr>
            <a:r>
              <a:rPr sz="900" b="0" i="0">
                <a:solidFill>
                  <a:srgbClr val="F2B33D"/>
                </a:solidFill>
                <a:latin typeface="Segoe UI"/>
              </a:rPr>
              <a:t>■</a:t>
            </a:r>
            <a:r>
              <a:rPr sz="1100" b="1" i="0">
                <a:solidFill>
                  <a:srgbClr val="F2F3F5"/>
                </a:solidFill>
                <a:latin typeface="Segoe UI"/>
              </a:rPr>
              <a:t>  Coût d'accès à l'aide</a:t>
            </a:r>
          </a:p>
          <a:p>
            <a:pPr>
              <a:spcBef>
                <a:spcPts val="300"/>
              </a:spcBef>
              <a:spcAft>
                <a:spcPts val="0"/>
              </a:spcAft>
            </a:pPr>
            <a:r>
              <a:rPr sz="950" b="0" i="0">
                <a:solidFill>
                  <a:srgbClr val="777D8A"/>
                </a:solidFill>
                <a:latin typeface="Segoe UI"/>
              </a:rPr>
              <a:t>paperasse, distance, honte, files visibles</a:t>
            </a:r>
          </a:p>
        </p:txBody>
      </p:sp>
      <p:sp>
        <p:nvSpPr>
          <p:cNvPr id="22" name="TextBox 21"/>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777D8A"/>
                </a:solidFill>
                <a:latin typeface="Segoe UI"/>
              </a:rPr>
              <a:t>Solidarité+  ·  ODD 1 — Pas de pauvreté  ·  EMSI 3IIR S5 — 2026</a:t>
            </a:r>
          </a:p>
        </p:txBody>
      </p:sp>
      <p:sp>
        <p:nvSpPr>
          <p:cNvPr id="23" name="Rounded Rectangle 22"/>
          <p:cNvSpPr/>
          <p:nvPr/>
        </p:nvSpPr>
        <p:spPr>
          <a:xfrm>
            <a:off x="11475720" y="6382512"/>
            <a:ext cx="384048" cy="384048"/>
          </a:xfrm>
          <a:prstGeom prst="roundRect">
            <a:avLst>
              <a:gd name="adj" fmla="val 28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14171F"/>
                </a:solidFill>
                <a:latin typeface="Segoe UI"/>
              </a:rPr>
              <a:t>4</a:t>
            </a:r>
          </a:p>
        </p:txBody>
      </p:sp>
      <p:sp>
        <p:nvSpPr>
          <p:cNvPr id="24" name="TextBox 23"/>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777D8A"/>
                </a:solidFill>
                <a:latin typeface="Segoe UI"/>
              </a:rPr>
              <a:t>≈ 1 min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1B1F29"/>
                </a:solidFill>
                <a:latin typeface="Segoe UI"/>
              </a:rPr>
              <a:t>04</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F2B33D"/>
                </a:solidFill>
                <a:latin typeface="Segoe UI"/>
              </a:rPr>
              <a:t>SECTION 2 · PROBLÉMATIQUE</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2900" b="1" i="0">
                <a:solidFill>
                  <a:srgbClr val="F2F3F5"/>
                </a:solidFill>
                <a:latin typeface="Segoe UI"/>
              </a:rPr>
              <a:t>Le problème concret que nous avons choisi</a:t>
            </a:r>
          </a:p>
        </p:txBody>
      </p:sp>
      <p:sp>
        <p:nvSpPr>
          <p:cNvPr id="6" name="Rectangle 5"/>
          <p:cNvSpPr/>
          <p:nvPr/>
        </p:nvSpPr>
        <p:spPr>
          <a:xfrm>
            <a:off x="612648" y="1481328"/>
            <a:ext cx="822960" cy="50292"/>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810512"/>
            <a:ext cx="6903720" cy="2011680"/>
          </a:xfrm>
          <a:prstGeom prst="roundRect">
            <a:avLst>
              <a:gd name="adj" fmla="val 5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11680"/>
            <a:ext cx="6309360" cy="1737360"/>
          </a:xfrm>
          <a:prstGeom prst="rect">
            <a:avLst/>
          </a:prstGeom>
          <a:noFill/>
        </p:spPr>
        <p:txBody>
          <a:bodyPr wrap="square" anchor="t" lIns="0" rIns="0" tIns="0" bIns="0">
            <a:spAutoFit/>
          </a:bodyPr>
          <a:lstStyle/>
          <a:p>
            <a:pPr>
              <a:spcBef>
                <a:spcPts val="0"/>
              </a:spcBef>
              <a:spcAft>
                <a:spcPts val="0"/>
              </a:spcAft>
            </a:pPr>
            <a:r>
              <a:rPr sz="1500" b="1" i="0">
                <a:solidFill>
                  <a:srgbClr val="F2B33D"/>
                </a:solidFill>
                <a:latin typeface="Segoe UI"/>
              </a:rPr>
              <a:t>Le constat de quartier</a:t>
            </a:r>
          </a:p>
          <a:p>
            <a:pPr marL="219456" indent="-219456">
              <a:spcBef>
                <a:spcPts val="800"/>
              </a:spcBef>
              <a:spcAft>
                <a:spcPts val="0"/>
              </a:spcAft>
              <a:buClr>
                <a:srgbClr val="F2B33D"/>
              </a:buClr>
              <a:buSzPct val="60000"/>
              <a:buFont typeface="Arial"/>
              <a:buChar char="■"/>
            </a:pPr>
            <a:r>
              <a:rPr sz="1250" b="0" i="0">
                <a:solidFill>
                  <a:srgbClr val="F2F3F5"/>
                </a:solidFill>
                <a:latin typeface="Segoe UI"/>
              </a:rPr>
              <a:t>Des objets essentiels dorment : vêtements en bon état, cartables, conserves, vaisselle, produits d'hygiène.</a:t>
            </a:r>
          </a:p>
          <a:p>
            <a:pPr marL="219456" indent="-219456">
              <a:spcBef>
                <a:spcPts val="700"/>
              </a:spcBef>
              <a:spcAft>
                <a:spcPts val="0"/>
              </a:spcAft>
              <a:buClr>
                <a:srgbClr val="F2B33D"/>
              </a:buClr>
              <a:buSzPct val="60000"/>
              <a:buFont typeface="Arial"/>
              <a:buChar char="■"/>
            </a:pPr>
            <a:r>
              <a:rPr sz="1250" b="0" i="0">
                <a:solidFill>
                  <a:srgbClr val="F2F3F5"/>
                </a:solidFill>
                <a:latin typeface="Segoe UI"/>
              </a:rPr>
              <a:t>Des familles en manquent, mais demander de l'aide coûte cher en autre chose : dossiers, justificatifs, distance, honte.</a:t>
            </a:r>
          </a:p>
          <a:p>
            <a:pPr marL="219456" indent="-219456">
              <a:spcBef>
                <a:spcPts val="700"/>
              </a:spcBef>
              <a:spcAft>
                <a:spcPts val="0"/>
              </a:spcAft>
              <a:buClr>
                <a:srgbClr val="F2B33D"/>
              </a:buClr>
              <a:buSzPct val="60000"/>
              <a:buFont typeface="Arial"/>
              <a:buChar char="■"/>
            </a:pPr>
            <a:r>
              <a:rPr sz="1250" b="0" i="0">
                <a:solidFill>
                  <a:srgbClr val="F2F3F5"/>
                </a:solidFill>
                <a:latin typeface="Segoe UI"/>
              </a:rPr>
              <a:t>Les associations locales manquent d'un outil simple pour relier les deux.</a:t>
            </a:r>
          </a:p>
        </p:txBody>
      </p:sp>
      <p:sp>
        <p:nvSpPr>
          <p:cNvPr id="9" name="Rounded Rectangle 8"/>
          <p:cNvSpPr/>
          <p:nvPr/>
        </p:nvSpPr>
        <p:spPr>
          <a:xfrm>
            <a:off x="594360" y="3977639"/>
            <a:ext cx="6903720" cy="2148840"/>
          </a:xfrm>
          <a:prstGeom prst="roundRect">
            <a:avLst>
              <a:gd name="adj" fmla="val 6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24528"/>
            <a:ext cx="6309360" cy="1737360"/>
          </a:xfrm>
          <a:prstGeom prst="rect">
            <a:avLst/>
          </a:prstGeom>
          <a:noFill/>
        </p:spPr>
        <p:txBody>
          <a:bodyPr wrap="square" anchor="t" lIns="0" rIns="0" tIns="0" bIns="0">
            <a:spAutoFit/>
          </a:bodyPr>
          <a:lstStyle/>
          <a:p>
            <a:pPr>
              <a:spcBef>
                <a:spcPts val="0"/>
              </a:spcBef>
              <a:spcAft>
                <a:spcPts val="0"/>
              </a:spcAft>
            </a:pPr>
            <a:r>
              <a:rPr sz="1050" b="1" i="0" spc="200">
                <a:solidFill>
                  <a:srgbClr val="5C400A"/>
                </a:solidFill>
                <a:latin typeface="Segoe UI"/>
              </a:rPr>
              <a:t>NOTRE PROBLÉMATIQUE</a:t>
            </a:r>
          </a:p>
          <a:p>
            <a:pPr>
              <a:spcBef>
                <a:spcPts val="800"/>
              </a:spcBef>
              <a:spcAft>
                <a:spcPts val="0"/>
              </a:spcAft>
            </a:pPr>
            <a:r>
              <a:rPr sz="1600" b="1" i="1">
                <a:solidFill>
                  <a:srgbClr val="14171F"/>
                </a:solidFill>
                <a:latin typeface="Segoe UI"/>
              </a:rPr>
              <a:t>« Comment permettre à un objet utile de rejoindre, gratuitement et dignement, une personne qui en a besoin dans le même quartier ? »</a:t>
            </a:r>
          </a:p>
        </p:txBody>
      </p:sp>
      <p:sp>
        <p:nvSpPr>
          <p:cNvPr id="11" name="Rounded Rectangle 10"/>
          <p:cNvSpPr/>
          <p:nvPr/>
        </p:nvSpPr>
        <p:spPr>
          <a:xfrm>
            <a:off x="7726679" y="1810512"/>
            <a:ext cx="3840480" cy="4315968"/>
          </a:xfrm>
          <a:prstGeom prst="roundRect">
            <a:avLst>
              <a:gd name="adj" fmla="val 5000"/>
            </a:avLst>
          </a:prstGeom>
          <a:solidFill>
            <a:srgbClr val="242935"/>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1" y="2029968"/>
            <a:ext cx="3291840" cy="3931920"/>
          </a:xfrm>
          <a:prstGeom prst="rect">
            <a:avLst/>
          </a:prstGeom>
          <a:noFill/>
        </p:spPr>
        <p:txBody>
          <a:bodyPr wrap="square" anchor="t" lIns="0" rIns="0" tIns="0" bIns="0">
            <a:spAutoFit/>
          </a:bodyPr>
          <a:lstStyle/>
          <a:p>
            <a:pPr>
              <a:spcBef>
                <a:spcPts val="0"/>
              </a:spcBef>
              <a:spcAft>
                <a:spcPts val="0"/>
              </a:spcAft>
            </a:pPr>
            <a:r>
              <a:rPr sz="1500" b="1" i="0">
                <a:solidFill>
                  <a:srgbClr val="F2F3F5"/>
                </a:solidFill>
                <a:latin typeface="Segoe UI"/>
              </a:rPr>
              <a:t>Les utilisateurs concernés</a:t>
            </a:r>
          </a:p>
          <a:p>
            <a:pPr>
              <a:spcBef>
                <a:spcPts val="1300"/>
              </a:spcBef>
              <a:spcAft>
                <a:spcPts val="0"/>
              </a:spcAft>
            </a:pPr>
            <a:r>
              <a:rPr sz="900" b="0" i="0">
                <a:solidFill>
                  <a:srgbClr val="F2B33D"/>
                </a:solidFill>
                <a:latin typeface="Segoe UI"/>
              </a:rPr>
              <a:t>■ </a:t>
            </a:r>
            <a:r>
              <a:rPr sz="1250" b="1" i="0">
                <a:solidFill>
                  <a:srgbClr val="F2F3F5"/>
                </a:solidFill>
                <a:latin typeface="Segoe UI"/>
              </a:rPr>
              <a:t>Les familles en difficulté</a:t>
            </a:r>
          </a:p>
          <a:p>
            <a:pPr>
              <a:spcBef>
                <a:spcPts val="300"/>
              </a:spcBef>
              <a:spcAft>
                <a:spcPts val="0"/>
              </a:spcAft>
            </a:pPr>
            <a:r>
              <a:rPr sz="1050" b="0" i="0">
                <a:solidFill>
                  <a:srgbClr val="A8AEBB"/>
                </a:solidFill>
                <a:latin typeface="Segoe UI"/>
              </a:rPr>
              <a:t>besoin ponctuel d'un bien de première nécessité, sans dossier ni stigmatisation.</a:t>
            </a:r>
          </a:p>
          <a:p>
            <a:pPr>
              <a:spcBef>
                <a:spcPts val="1300"/>
              </a:spcBef>
              <a:spcAft>
                <a:spcPts val="0"/>
              </a:spcAft>
            </a:pPr>
            <a:r>
              <a:rPr sz="900" b="0" i="0">
                <a:solidFill>
                  <a:srgbClr val="F2B33D"/>
                </a:solidFill>
                <a:latin typeface="Segoe UI"/>
              </a:rPr>
              <a:t>■ </a:t>
            </a:r>
            <a:r>
              <a:rPr sz="1250" b="1" i="0">
                <a:solidFill>
                  <a:srgbClr val="F2F3F5"/>
                </a:solidFill>
                <a:latin typeface="Segoe UI"/>
              </a:rPr>
              <a:t>Les personnes qui donnent</a:t>
            </a:r>
          </a:p>
          <a:p>
            <a:pPr>
              <a:spcBef>
                <a:spcPts val="300"/>
              </a:spcBef>
              <a:spcAft>
                <a:spcPts val="0"/>
              </a:spcAft>
            </a:pPr>
            <a:r>
              <a:rPr sz="1050" b="0" i="0">
                <a:solidFill>
                  <a:srgbClr val="A8AEBB"/>
                </a:solidFill>
                <a:latin typeface="Segoe UI"/>
              </a:rPr>
              <a:t>veulent que leur objet serve vraiment, près de chez elles.</a:t>
            </a:r>
          </a:p>
          <a:p>
            <a:pPr>
              <a:spcBef>
                <a:spcPts val="1300"/>
              </a:spcBef>
              <a:spcAft>
                <a:spcPts val="0"/>
              </a:spcAft>
            </a:pPr>
            <a:r>
              <a:rPr sz="900" b="0" i="0">
                <a:solidFill>
                  <a:srgbClr val="F2B33D"/>
                </a:solidFill>
                <a:latin typeface="Segoe UI"/>
              </a:rPr>
              <a:t>■ </a:t>
            </a:r>
            <a:r>
              <a:rPr sz="1250" b="1" i="0">
                <a:solidFill>
                  <a:srgbClr val="F2F3F5"/>
                </a:solidFill>
                <a:latin typeface="Segoe UI"/>
              </a:rPr>
              <a:t>Les associations locales</a:t>
            </a:r>
          </a:p>
          <a:p>
            <a:pPr>
              <a:spcBef>
                <a:spcPts val="300"/>
              </a:spcBef>
              <a:spcAft>
                <a:spcPts val="0"/>
              </a:spcAft>
            </a:pPr>
            <a:r>
              <a:rPr sz="1050" b="0" i="0">
                <a:solidFill>
                  <a:srgbClr val="A8AEBB"/>
                </a:solidFill>
                <a:latin typeface="Segoe UI"/>
              </a:rPr>
              <a:t>ont des bénévoles pour vérifier et remettre, mais pas d'outil adapté.</a:t>
            </a:r>
          </a:p>
        </p:txBody>
      </p:sp>
      <p:sp>
        <p:nvSpPr>
          <p:cNvPr id="13" name="TextBox 12"/>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777D8A"/>
                </a:solidFill>
                <a:latin typeface="Segoe UI"/>
              </a:rPr>
              <a:t>Solidarité+  ·  ODD 1 — Pas de pauvreté  ·  EMSI 3IIR S5 — 2026</a:t>
            </a:r>
          </a:p>
        </p:txBody>
      </p:sp>
      <p:sp>
        <p:nvSpPr>
          <p:cNvPr id="14" name="Rounded Rectangle 13"/>
          <p:cNvSpPr/>
          <p:nvPr/>
        </p:nvSpPr>
        <p:spPr>
          <a:xfrm>
            <a:off x="11475720" y="6382512"/>
            <a:ext cx="384048" cy="384048"/>
          </a:xfrm>
          <a:prstGeom prst="roundRect">
            <a:avLst>
              <a:gd name="adj" fmla="val 28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14171F"/>
                </a:solidFill>
                <a:latin typeface="Segoe UI"/>
              </a:rPr>
              <a:t>5</a:t>
            </a:r>
          </a:p>
        </p:txBody>
      </p:sp>
      <p:sp>
        <p:nvSpPr>
          <p:cNvPr id="15" name="TextBox 14"/>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777D8A"/>
                </a:solidFill>
                <a:latin typeface="Segoe UI"/>
              </a:rPr>
              <a:t>≈ 50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1B1F29"/>
                </a:solidFill>
                <a:latin typeface="Segoe UI"/>
              </a:rPr>
              <a:t>05</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F2B33D"/>
                </a:solidFill>
                <a:latin typeface="Segoe UI"/>
              </a:rPr>
              <a:t>SECTION 3 · NOTRE RÉPONSE</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2900" b="1" i="0">
                <a:solidFill>
                  <a:srgbClr val="F2F3F5"/>
                </a:solidFill>
                <a:latin typeface="Segoe UI"/>
              </a:rPr>
              <a:t>Solidarité+ : le registre des dons de quartier</a:t>
            </a:r>
          </a:p>
        </p:txBody>
      </p:sp>
      <p:sp>
        <p:nvSpPr>
          <p:cNvPr id="6" name="Rectangle 5"/>
          <p:cNvSpPr/>
          <p:nvPr/>
        </p:nvSpPr>
        <p:spPr>
          <a:xfrm>
            <a:off x="612648" y="1481328"/>
            <a:ext cx="822960" cy="50292"/>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783080"/>
            <a:ext cx="10972800" cy="457200"/>
          </a:xfrm>
          <a:prstGeom prst="rect">
            <a:avLst/>
          </a:prstGeom>
          <a:noFill/>
        </p:spPr>
        <p:txBody>
          <a:bodyPr wrap="square" anchor="t" lIns="0" rIns="0" tIns="0" bIns="0">
            <a:spAutoFit/>
          </a:bodyPr>
          <a:lstStyle/>
          <a:p>
            <a:pPr>
              <a:spcBef>
                <a:spcPts val="0"/>
              </a:spcBef>
              <a:spcAft>
                <a:spcPts val="0"/>
              </a:spcAft>
            </a:pPr>
            <a:r>
              <a:rPr sz="1300" b="0" i="1">
                <a:solidFill>
                  <a:srgbClr val="A8AEBB"/>
                </a:solidFill>
                <a:latin typeface="Segoe UI"/>
              </a:rPr>
              <a:t>Une plateforme web locale, 100 % gratuite, qui relie donneurs, demandeurs et associations autour des biens essentiels.</a:t>
            </a:r>
          </a:p>
        </p:txBody>
      </p:sp>
      <p:sp>
        <p:nvSpPr>
          <p:cNvPr id="8" name="Rounded Rectangle 7"/>
          <p:cNvSpPr/>
          <p:nvPr/>
        </p:nvSpPr>
        <p:spPr>
          <a:xfrm>
            <a:off x="594360" y="2377440"/>
            <a:ext cx="3611880" cy="1783080"/>
          </a:xfrm>
          <a:prstGeom prst="roundRect">
            <a:avLst>
              <a:gd name="adj" fmla="val 7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578608"/>
            <a:ext cx="3108960" cy="1417320"/>
          </a:xfrm>
          <a:prstGeom prst="rect">
            <a:avLst/>
          </a:prstGeom>
          <a:noFill/>
        </p:spPr>
        <p:txBody>
          <a:bodyPr wrap="square" anchor="t" lIns="0" rIns="0" tIns="0" bIns="0">
            <a:spAutoFit/>
          </a:bodyPr>
          <a:lstStyle/>
          <a:p>
            <a:pPr>
              <a:spcBef>
                <a:spcPts val="0"/>
              </a:spcBef>
              <a:spcAft>
                <a:spcPts val="0"/>
              </a:spcAft>
            </a:pPr>
            <a:r>
              <a:rPr sz="900" b="0" i="0">
                <a:solidFill>
                  <a:srgbClr val="F2B33D"/>
                </a:solidFill>
                <a:latin typeface="Segoe UI"/>
              </a:rPr>
              <a:t>■ </a:t>
            </a:r>
            <a:r>
              <a:rPr sz="1300" b="1" i="0">
                <a:solidFill>
                  <a:srgbClr val="F2F3F5"/>
                </a:solidFill>
                <a:latin typeface="Segoe UI"/>
              </a:rPr>
              <a:t>Registre filtrable</a:t>
            </a:r>
          </a:p>
          <a:p>
            <a:pPr>
              <a:spcBef>
                <a:spcPts val="500"/>
              </a:spcBef>
              <a:spcAft>
                <a:spcPts val="0"/>
              </a:spcAft>
            </a:pPr>
            <a:r>
              <a:rPr sz="1000" b="0" i="0">
                <a:solidFill>
                  <a:srgbClr val="A8AEBB"/>
                </a:solidFill>
                <a:latin typeface="Segoe UI"/>
              </a:rPr>
              <a:t>Cinq catégories (vêtements, fournitures, hygiène, alimentation, ménager), filtrage par quartier, état et disponibilité.</a:t>
            </a:r>
          </a:p>
        </p:txBody>
      </p:sp>
      <p:sp>
        <p:nvSpPr>
          <p:cNvPr id="10" name="Rounded Rectangle 9"/>
          <p:cNvSpPr/>
          <p:nvPr/>
        </p:nvSpPr>
        <p:spPr>
          <a:xfrm>
            <a:off x="4315968" y="2377440"/>
            <a:ext cx="3611880" cy="1783080"/>
          </a:xfrm>
          <a:prstGeom prst="roundRect">
            <a:avLst>
              <a:gd name="adj" fmla="val 7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578608"/>
            <a:ext cx="3108960" cy="1417320"/>
          </a:xfrm>
          <a:prstGeom prst="rect">
            <a:avLst/>
          </a:prstGeom>
          <a:noFill/>
        </p:spPr>
        <p:txBody>
          <a:bodyPr wrap="square" anchor="t" lIns="0" rIns="0" tIns="0" bIns="0">
            <a:spAutoFit/>
          </a:bodyPr>
          <a:lstStyle/>
          <a:p>
            <a:pPr>
              <a:spcBef>
                <a:spcPts val="0"/>
              </a:spcBef>
              <a:spcAft>
                <a:spcPts val="0"/>
              </a:spcAft>
            </a:pPr>
            <a:r>
              <a:rPr sz="900" b="0" i="0">
                <a:solidFill>
                  <a:srgbClr val="F2B33D"/>
                </a:solidFill>
                <a:latin typeface="Segoe UI"/>
              </a:rPr>
              <a:t>■ </a:t>
            </a:r>
            <a:r>
              <a:rPr sz="1300" b="1" i="0">
                <a:solidFill>
                  <a:srgbClr val="F2F3F5"/>
                </a:solidFill>
                <a:latin typeface="Segoe UI"/>
              </a:rPr>
              <a:t>Publier en 3 minutes</a:t>
            </a:r>
          </a:p>
          <a:p>
            <a:pPr>
              <a:spcBef>
                <a:spcPts val="500"/>
              </a:spcBef>
              <a:spcAft>
                <a:spcPts val="0"/>
              </a:spcAft>
            </a:pPr>
            <a:r>
              <a:rPr sz="1000" b="0" i="0">
                <a:solidFill>
                  <a:srgbClr val="A8AEBB"/>
                </a:solidFill>
                <a:latin typeface="Segoe UI"/>
              </a:rPr>
              <a:t>Titre, état, quartier approximatif — jamais d'adresse ni de numéro de téléphone.</a:t>
            </a:r>
          </a:p>
        </p:txBody>
      </p:sp>
      <p:sp>
        <p:nvSpPr>
          <p:cNvPr id="12" name="Rounded Rectangle 11"/>
          <p:cNvSpPr/>
          <p:nvPr/>
        </p:nvSpPr>
        <p:spPr>
          <a:xfrm>
            <a:off x="8037575" y="2377440"/>
            <a:ext cx="3611880" cy="1783080"/>
          </a:xfrm>
          <a:prstGeom prst="roundRect">
            <a:avLst>
              <a:gd name="adj" fmla="val 7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2578608"/>
            <a:ext cx="3108960" cy="1417320"/>
          </a:xfrm>
          <a:prstGeom prst="rect">
            <a:avLst/>
          </a:prstGeom>
          <a:noFill/>
        </p:spPr>
        <p:txBody>
          <a:bodyPr wrap="square" anchor="t" lIns="0" rIns="0" tIns="0" bIns="0">
            <a:spAutoFit/>
          </a:bodyPr>
          <a:lstStyle/>
          <a:p>
            <a:pPr>
              <a:spcBef>
                <a:spcPts val="0"/>
              </a:spcBef>
              <a:spcAft>
                <a:spcPts val="0"/>
              </a:spcAft>
            </a:pPr>
            <a:r>
              <a:rPr sz="900" b="0" i="0">
                <a:solidFill>
                  <a:srgbClr val="F2B33D"/>
                </a:solidFill>
                <a:latin typeface="Segoe UI"/>
              </a:rPr>
              <a:t>■ </a:t>
            </a:r>
            <a:r>
              <a:rPr sz="1300" b="1" i="0">
                <a:solidFill>
                  <a:srgbClr val="F2F3F5"/>
                </a:solidFill>
                <a:latin typeface="Segoe UI"/>
              </a:rPr>
              <a:t>Demander sans honte</a:t>
            </a:r>
          </a:p>
          <a:p>
            <a:pPr>
              <a:spcBef>
                <a:spcPts val="500"/>
              </a:spcBef>
              <a:spcAft>
                <a:spcPts val="0"/>
              </a:spcAft>
            </a:pPr>
            <a:r>
              <a:rPr sz="1000" b="0" i="0">
                <a:solidFill>
                  <a:srgbClr val="A8AEBB"/>
                </a:solidFill>
                <a:latin typeface="Segoe UI"/>
              </a:rPr>
              <a:t>Aucun justificatif, aucun paiement, aucun prix affiché. La demande ne coûte rien.</a:t>
            </a:r>
          </a:p>
        </p:txBody>
      </p:sp>
      <p:sp>
        <p:nvSpPr>
          <p:cNvPr id="14" name="Rounded Rectangle 13"/>
          <p:cNvSpPr/>
          <p:nvPr/>
        </p:nvSpPr>
        <p:spPr>
          <a:xfrm>
            <a:off x="594360" y="4343400"/>
            <a:ext cx="3611880" cy="1783080"/>
          </a:xfrm>
          <a:prstGeom prst="roundRect">
            <a:avLst>
              <a:gd name="adj" fmla="val 7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544568"/>
            <a:ext cx="3108960" cy="1417320"/>
          </a:xfrm>
          <a:prstGeom prst="rect">
            <a:avLst/>
          </a:prstGeom>
          <a:noFill/>
        </p:spPr>
        <p:txBody>
          <a:bodyPr wrap="square" anchor="t" lIns="0" rIns="0" tIns="0" bIns="0">
            <a:spAutoFit/>
          </a:bodyPr>
          <a:lstStyle/>
          <a:p>
            <a:pPr>
              <a:spcBef>
                <a:spcPts val="0"/>
              </a:spcBef>
              <a:spcAft>
                <a:spcPts val="0"/>
              </a:spcAft>
            </a:pPr>
            <a:r>
              <a:rPr sz="900" b="0" i="0">
                <a:solidFill>
                  <a:srgbClr val="F2B33D"/>
                </a:solidFill>
                <a:latin typeface="Segoe UI"/>
              </a:rPr>
              <a:t>■ </a:t>
            </a:r>
            <a:r>
              <a:rPr sz="1300" b="1" i="0">
                <a:solidFill>
                  <a:srgbClr val="F2F3F5"/>
                </a:solidFill>
                <a:latin typeface="Segoe UI"/>
              </a:rPr>
              <a:t>Modération associative</a:t>
            </a:r>
          </a:p>
          <a:p>
            <a:pPr>
              <a:spcBef>
                <a:spcPts val="500"/>
              </a:spcBef>
              <a:spcAft>
                <a:spcPts val="0"/>
              </a:spcAft>
            </a:pPr>
            <a:r>
              <a:rPr sz="1000" b="0" i="0">
                <a:solidFill>
                  <a:srgbClr val="A8AEBB"/>
                </a:solidFill>
                <a:latin typeface="Segoe UI"/>
              </a:rPr>
              <a:t>Une association valide, refuse ou reçoit les signalements avant remise en main propre.</a:t>
            </a:r>
          </a:p>
        </p:txBody>
      </p:sp>
      <p:sp>
        <p:nvSpPr>
          <p:cNvPr id="16" name="Rounded Rectangle 15"/>
          <p:cNvSpPr/>
          <p:nvPr/>
        </p:nvSpPr>
        <p:spPr>
          <a:xfrm>
            <a:off x="4315968" y="4343400"/>
            <a:ext cx="3611880" cy="1783080"/>
          </a:xfrm>
          <a:prstGeom prst="roundRect">
            <a:avLst>
              <a:gd name="adj" fmla="val 7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8" y="4544568"/>
            <a:ext cx="3108960" cy="1417320"/>
          </a:xfrm>
          <a:prstGeom prst="rect">
            <a:avLst/>
          </a:prstGeom>
          <a:noFill/>
        </p:spPr>
        <p:txBody>
          <a:bodyPr wrap="square" anchor="t" lIns="0" rIns="0" tIns="0" bIns="0">
            <a:spAutoFit/>
          </a:bodyPr>
          <a:lstStyle/>
          <a:p>
            <a:pPr>
              <a:spcBef>
                <a:spcPts val="0"/>
              </a:spcBef>
              <a:spcAft>
                <a:spcPts val="0"/>
              </a:spcAft>
            </a:pPr>
            <a:r>
              <a:rPr sz="900" b="0" i="0">
                <a:solidFill>
                  <a:srgbClr val="F2B33D"/>
                </a:solidFill>
                <a:latin typeface="Segoe UI"/>
              </a:rPr>
              <a:t>■ </a:t>
            </a:r>
            <a:r>
              <a:rPr sz="1300" b="1" i="0">
                <a:solidFill>
                  <a:srgbClr val="F2F3F5"/>
                </a:solidFill>
                <a:latin typeface="Segoe UI"/>
              </a:rPr>
              <a:t>Espace personnel</a:t>
            </a:r>
          </a:p>
          <a:p>
            <a:pPr>
              <a:spcBef>
                <a:spcPts val="500"/>
              </a:spcBef>
              <a:spcAft>
                <a:spcPts val="0"/>
              </a:spcAft>
            </a:pPr>
            <a:r>
              <a:rPr sz="1000" b="0" i="0">
                <a:solidFill>
                  <a:srgbClr val="A8AEBB"/>
                </a:solidFill>
                <a:latin typeface="Segoe UI"/>
              </a:rPr>
              <a:t>Tableau de bord du donneur : annonces, demandes reçues, dons confirmés.</a:t>
            </a:r>
          </a:p>
        </p:txBody>
      </p:sp>
      <p:sp>
        <p:nvSpPr>
          <p:cNvPr id="18" name="Rounded Rectangle 17"/>
          <p:cNvSpPr/>
          <p:nvPr/>
        </p:nvSpPr>
        <p:spPr>
          <a:xfrm>
            <a:off x="8037575" y="4343400"/>
            <a:ext cx="3611880" cy="1783080"/>
          </a:xfrm>
          <a:prstGeom prst="roundRect">
            <a:avLst>
              <a:gd name="adj" fmla="val 7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6" y="4544568"/>
            <a:ext cx="3108960" cy="1417320"/>
          </a:xfrm>
          <a:prstGeom prst="rect">
            <a:avLst/>
          </a:prstGeom>
          <a:noFill/>
        </p:spPr>
        <p:txBody>
          <a:bodyPr wrap="square" anchor="t" lIns="0" rIns="0" tIns="0" bIns="0">
            <a:spAutoFit/>
          </a:bodyPr>
          <a:lstStyle/>
          <a:p>
            <a:pPr>
              <a:spcBef>
                <a:spcPts val="0"/>
              </a:spcBef>
              <a:spcAft>
                <a:spcPts val="0"/>
              </a:spcAft>
            </a:pPr>
            <a:r>
              <a:rPr sz="900" b="0" i="0">
                <a:solidFill>
                  <a:srgbClr val="F2B33D"/>
                </a:solidFill>
                <a:latin typeface="Segoe UI"/>
              </a:rPr>
              <a:t>■ </a:t>
            </a:r>
            <a:r>
              <a:rPr sz="1300" b="1" i="0">
                <a:solidFill>
                  <a:srgbClr val="F2F3F5"/>
                </a:solidFill>
                <a:latin typeface="Segoe UI"/>
              </a:rPr>
              <a:t>Vie privée par défaut</a:t>
            </a:r>
          </a:p>
          <a:p>
            <a:pPr>
              <a:spcBef>
                <a:spcPts val="500"/>
              </a:spcBef>
              <a:spcAft>
                <a:spcPts val="0"/>
              </a:spcAft>
            </a:pPr>
            <a:r>
              <a:rPr sz="1000" b="0" i="0">
                <a:solidFill>
                  <a:srgbClr val="A8AEBB"/>
                </a:solidFill>
                <a:latin typeface="Segoe UI"/>
              </a:rPr>
              <a:t>Signalement en un clic, remise hors ligne, données conservées localement dans le prototype.</a:t>
            </a:r>
          </a:p>
        </p:txBody>
      </p:sp>
      <p:sp>
        <p:nvSpPr>
          <p:cNvPr id="20" name="TextBox 19"/>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777D8A"/>
                </a:solidFill>
                <a:latin typeface="Segoe UI"/>
              </a:rPr>
              <a:t>Solidarité+  ·  ODD 1 — Pas de pauvreté  ·  EMSI 3IIR S5 — 2026</a:t>
            </a:r>
          </a:p>
        </p:txBody>
      </p:sp>
      <p:sp>
        <p:nvSpPr>
          <p:cNvPr id="21" name="Rounded Rectangle 20"/>
          <p:cNvSpPr/>
          <p:nvPr/>
        </p:nvSpPr>
        <p:spPr>
          <a:xfrm>
            <a:off x="11475720" y="6382512"/>
            <a:ext cx="384048" cy="384048"/>
          </a:xfrm>
          <a:prstGeom prst="roundRect">
            <a:avLst>
              <a:gd name="adj" fmla="val 28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14171F"/>
                </a:solidFill>
                <a:latin typeface="Segoe UI"/>
              </a:rPr>
              <a:t>6</a:t>
            </a:r>
          </a:p>
        </p:txBody>
      </p:sp>
      <p:sp>
        <p:nvSpPr>
          <p:cNvPr id="22" name="TextBox 21"/>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777D8A"/>
                </a:solidFill>
                <a:latin typeface="Segoe UI"/>
              </a:rPr>
              <a:t>≈ 55 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1B1F29"/>
                </a:solidFill>
                <a:latin typeface="Segoe UI"/>
              </a:rPr>
              <a:t>06</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F2B33D"/>
                </a:solidFill>
                <a:latin typeface="Segoe UI"/>
              </a:rPr>
              <a:t>SECTION 3 · FONCTIONNEMENT</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2900" b="1" i="0">
                <a:solidFill>
                  <a:srgbClr val="F2F3F5"/>
                </a:solidFill>
                <a:latin typeface="Segoe UI"/>
              </a:rPr>
              <a:t>Trois étapes, une remise en main propre</a:t>
            </a:r>
          </a:p>
        </p:txBody>
      </p:sp>
      <p:sp>
        <p:nvSpPr>
          <p:cNvPr id="6" name="Rectangle 5"/>
          <p:cNvSpPr/>
          <p:nvPr/>
        </p:nvSpPr>
        <p:spPr>
          <a:xfrm>
            <a:off x="612648" y="1481328"/>
            <a:ext cx="822960" cy="50292"/>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874519"/>
            <a:ext cx="3429000" cy="1965960"/>
          </a:xfrm>
          <a:prstGeom prst="roundRect">
            <a:avLst>
              <a:gd name="adj" fmla="val 8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60120" y="1600200"/>
            <a:ext cx="566928" cy="566928"/>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14171F"/>
                </a:solidFill>
                <a:latin typeface="Segoe UI"/>
              </a:rPr>
              <a:t>1</a:t>
            </a:r>
          </a:p>
        </p:txBody>
      </p:sp>
      <p:sp>
        <p:nvSpPr>
          <p:cNvPr id="9" name="TextBox 8"/>
          <p:cNvSpPr txBox="1"/>
          <p:nvPr/>
        </p:nvSpPr>
        <p:spPr>
          <a:xfrm>
            <a:off x="1691640" y="1709928"/>
            <a:ext cx="2194560" cy="411480"/>
          </a:xfrm>
          <a:prstGeom prst="rect">
            <a:avLst/>
          </a:prstGeom>
          <a:noFill/>
        </p:spPr>
        <p:txBody>
          <a:bodyPr wrap="square" anchor="ctr" lIns="0" rIns="0" tIns="0" bIns="0">
            <a:spAutoFit/>
          </a:bodyPr>
          <a:lstStyle/>
          <a:p>
            <a:pPr>
              <a:spcBef>
                <a:spcPts val="0"/>
              </a:spcBef>
              <a:spcAft>
                <a:spcPts val="0"/>
              </a:spcAft>
            </a:pPr>
            <a:r>
              <a:rPr sz="1600" b="1" i="0">
                <a:solidFill>
                  <a:srgbClr val="F2F3F5"/>
                </a:solidFill>
                <a:latin typeface="Segoe UI"/>
              </a:rPr>
              <a:t>Publier</a:t>
            </a:r>
          </a:p>
        </p:txBody>
      </p:sp>
      <p:sp>
        <p:nvSpPr>
          <p:cNvPr id="10" name="TextBox 9"/>
          <p:cNvSpPr txBox="1"/>
          <p:nvPr/>
        </p:nvSpPr>
        <p:spPr>
          <a:xfrm>
            <a:off x="960120" y="2423160"/>
            <a:ext cx="2926080" cy="1280160"/>
          </a:xfrm>
          <a:prstGeom prst="rect">
            <a:avLst/>
          </a:prstGeom>
          <a:noFill/>
        </p:spPr>
        <p:txBody>
          <a:bodyPr wrap="square" anchor="t" lIns="0" rIns="0" tIns="0" bIns="0">
            <a:spAutoFit/>
          </a:bodyPr>
          <a:lstStyle/>
          <a:p>
            <a:pPr>
              <a:spcBef>
                <a:spcPts val="0"/>
              </a:spcBef>
              <a:spcAft>
                <a:spcPts val="0"/>
              </a:spcAft>
            </a:pPr>
            <a:r>
              <a:rPr sz="1100" b="0" i="0">
                <a:solidFill>
                  <a:srgbClr val="A8AEBB"/>
                </a:solidFill>
                <a:latin typeface="Segoe UI"/>
              </a:rPr>
              <a:t>Le donneur décrit l'objet : titre, état, quartier. Pas d'adresse, pas de téléphone.</a:t>
            </a:r>
          </a:p>
        </p:txBody>
      </p:sp>
      <p:sp>
        <p:nvSpPr>
          <p:cNvPr id="11" name="Chevron 10"/>
          <p:cNvSpPr/>
          <p:nvPr/>
        </p:nvSpPr>
        <p:spPr>
          <a:xfrm>
            <a:off x="4206240" y="2651760"/>
            <a:ext cx="457200" cy="411480"/>
          </a:xfrm>
          <a:prstGeom prst="chevron">
            <a:avLst/>
          </a:prstGeom>
          <a:solidFill>
            <a:srgbClr val="3A4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53128" y="1874519"/>
            <a:ext cx="3429000" cy="1965960"/>
          </a:xfrm>
          <a:prstGeom prst="roundRect">
            <a:avLst>
              <a:gd name="adj" fmla="val 8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27448" y="1600200"/>
            <a:ext cx="566928" cy="566928"/>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14171F"/>
                </a:solidFill>
                <a:latin typeface="Segoe UI"/>
              </a:rPr>
              <a:t>2</a:t>
            </a:r>
          </a:p>
        </p:txBody>
      </p:sp>
      <p:sp>
        <p:nvSpPr>
          <p:cNvPr id="14" name="TextBox 13"/>
          <p:cNvSpPr txBox="1"/>
          <p:nvPr/>
        </p:nvSpPr>
        <p:spPr>
          <a:xfrm>
            <a:off x="5458968" y="1709928"/>
            <a:ext cx="2194560" cy="411480"/>
          </a:xfrm>
          <a:prstGeom prst="rect">
            <a:avLst/>
          </a:prstGeom>
          <a:noFill/>
        </p:spPr>
        <p:txBody>
          <a:bodyPr wrap="square" anchor="ctr" lIns="0" rIns="0" tIns="0" bIns="0">
            <a:spAutoFit/>
          </a:bodyPr>
          <a:lstStyle/>
          <a:p>
            <a:pPr>
              <a:spcBef>
                <a:spcPts val="0"/>
              </a:spcBef>
              <a:spcAft>
                <a:spcPts val="0"/>
              </a:spcAft>
            </a:pPr>
            <a:r>
              <a:rPr sz="1600" b="1" i="0">
                <a:solidFill>
                  <a:srgbClr val="F2F3F5"/>
                </a:solidFill>
                <a:latin typeface="Segoe UI"/>
              </a:rPr>
              <a:t>Vérifier</a:t>
            </a:r>
          </a:p>
        </p:txBody>
      </p:sp>
      <p:sp>
        <p:nvSpPr>
          <p:cNvPr id="15" name="TextBox 14"/>
          <p:cNvSpPr txBox="1"/>
          <p:nvPr/>
        </p:nvSpPr>
        <p:spPr>
          <a:xfrm>
            <a:off x="4727448" y="2423160"/>
            <a:ext cx="2926080" cy="1280160"/>
          </a:xfrm>
          <a:prstGeom prst="rect">
            <a:avLst/>
          </a:prstGeom>
          <a:noFill/>
        </p:spPr>
        <p:txBody>
          <a:bodyPr wrap="square" anchor="t" lIns="0" rIns="0" tIns="0" bIns="0">
            <a:spAutoFit/>
          </a:bodyPr>
          <a:lstStyle/>
          <a:p>
            <a:pPr>
              <a:spcBef>
                <a:spcPts val="0"/>
              </a:spcBef>
              <a:spcAft>
                <a:spcPts val="0"/>
              </a:spcAft>
            </a:pPr>
            <a:r>
              <a:rPr sz="1100" b="0" i="0">
                <a:solidFill>
                  <a:srgbClr val="A8AEBB"/>
                </a:solidFill>
                <a:latin typeface="Segoe UI"/>
              </a:rPr>
              <a:t>Une association modère : valider, refuser, signaler. Seules les annonces saines sont publiées.</a:t>
            </a:r>
          </a:p>
        </p:txBody>
      </p:sp>
      <p:sp>
        <p:nvSpPr>
          <p:cNvPr id="16" name="Chevron 15"/>
          <p:cNvSpPr/>
          <p:nvPr/>
        </p:nvSpPr>
        <p:spPr>
          <a:xfrm>
            <a:off x="7973568" y="2651760"/>
            <a:ext cx="457200" cy="411480"/>
          </a:xfrm>
          <a:prstGeom prst="chevron">
            <a:avLst/>
          </a:prstGeom>
          <a:solidFill>
            <a:srgbClr val="3A4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0456" y="1874519"/>
            <a:ext cx="3429000" cy="1965960"/>
          </a:xfrm>
          <a:prstGeom prst="roundRect">
            <a:avLst>
              <a:gd name="adj" fmla="val 8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494776" y="1600200"/>
            <a:ext cx="566928" cy="566928"/>
          </a:xfrm>
          <a:prstGeom prst="roundRect">
            <a:avLst>
              <a:gd name="adj" fmla="val 50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14171F"/>
                </a:solidFill>
                <a:latin typeface="Segoe UI"/>
              </a:rPr>
              <a:t>3</a:t>
            </a:r>
          </a:p>
        </p:txBody>
      </p:sp>
      <p:sp>
        <p:nvSpPr>
          <p:cNvPr id="19" name="TextBox 18"/>
          <p:cNvSpPr txBox="1"/>
          <p:nvPr/>
        </p:nvSpPr>
        <p:spPr>
          <a:xfrm>
            <a:off x="9226296" y="1709928"/>
            <a:ext cx="2194560" cy="411480"/>
          </a:xfrm>
          <a:prstGeom prst="rect">
            <a:avLst/>
          </a:prstGeom>
          <a:noFill/>
        </p:spPr>
        <p:txBody>
          <a:bodyPr wrap="square" anchor="ctr" lIns="0" rIns="0" tIns="0" bIns="0">
            <a:spAutoFit/>
          </a:bodyPr>
          <a:lstStyle/>
          <a:p>
            <a:pPr>
              <a:spcBef>
                <a:spcPts val="0"/>
              </a:spcBef>
              <a:spcAft>
                <a:spcPts val="0"/>
              </a:spcAft>
            </a:pPr>
            <a:r>
              <a:rPr sz="1600" b="1" i="0">
                <a:solidFill>
                  <a:srgbClr val="F2F3F5"/>
                </a:solidFill>
                <a:latin typeface="Segoe UI"/>
              </a:rPr>
              <a:t>Remettre</a:t>
            </a:r>
          </a:p>
        </p:txBody>
      </p:sp>
      <p:sp>
        <p:nvSpPr>
          <p:cNvPr id="20" name="TextBox 19"/>
          <p:cNvSpPr txBox="1"/>
          <p:nvPr/>
        </p:nvSpPr>
        <p:spPr>
          <a:xfrm>
            <a:off x="8494776" y="2423160"/>
            <a:ext cx="2926080" cy="1280160"/>
          </a:xfrm>
          <a:prstGeom prst="rect">
            <a:avLst/>
          </a:prstGeom>
          <a:noFill/>
        </p:spPr>
        <p:txBody>
          <a:bodyPr wrap="square" anchor="t" lIns="0" rIns="0" tIns="0" bIns="0">
            <a:spAutoFit/>
          </a:bodyPr>
          <a:lstStyle/>
          <a:p>
            <a:pPr>
              <a:spcBef>
                <a:spcPts val="0"/>
              </a:spcBef>
              <a:spcAft>
                <a:spcPts val="0"/>
              </a:spcAft>
            </a:pPr>
            <a:r>
              <a:rPr sz="1100" b="0" i="0">
                <a:solidFill>
                  <a:srgbClr val="A8AEBB"/>
                </a:solidFill>
                <a:latin typeface="Segoe UI"/>
              </a:rPr>
              <a:t>Demande gratuite, remise en personne, sans paiement ni audience publique.</a:t>
            </a:r>
          </a:p>
        </p:txBody>
      </p:sp>
      <p:sp>
        <p:nvSpPr>
          <p:cNvPr id="21" name="Rounded Rectangle 20"/>
          <p:cNvSpPr/>
          <p:nvPr/>
        </p:nvSpPr>
        <p:spPr>
          <a:xfrm>
            <a:off x="594360" y="4160520"/>
            <a:ext cx="11009376" cy="1965960"/>
          </a:xfrm>
          <a:prstGeom prst="roundRect">
            <a:avLst>
              <a:gd name="adj" fmla="val 6000"/>
            </a:avLst>
          </a:prstGeom>
          <a:solidFill>
            <a:srgbClr val="242935"/>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370832"/>
            <a:ext cx="10332720" cy="1600200"/>
          </a:xfrm>
          <a:prstGeom prst="rect">
            <a:avLst/>
          </a:prstGeom>
          <a:noFill/>
        </p:spPr>
        <p:txBody>
          <a:bodyPr wrap="square" anchor="t" lIns="0" rIns="0" tIns="0" bIns="0">
            <a:spAutoFit/>
          </a:bodyPr>
          <a:lstStyle/>
          <a:p>
            <a:pPr>
              <a:spcBef>
                <a:spcPts val="0"/>
              </a:spcBef>
              <a:spcAft>
                <a:spcPts val="0"/>
              </a:spcAft>
            </a:pPr>
            <a:r>
              <a:rPr sz="1100" b="1" i="0" spc="180">
                <a:solidFill>
                  <a:srgbClr val="F2B33D"/>
                </a:solidFill>
                <a:latin typeface="Segoe UI"/>
              </a:rPr>
              <a:t>DÉMONSTRATION EN DIRECT — ≈ 2 minutes</a:t>
            </a:r>
          </a:p>
          <a:p>
            <a:pPr>
              <a:spcBef>
                <a:spcPts val="700"/>
              </a:spcBef>
              <a:spcAft>
                <a:spcPts val="0"/>
              </a:spcAft>
            </a:pPr>
            <a:r>
              <a:rPr sz="1200" b="1" i="0">
                <a:solidFill>
                  <a:srgbClr val="F2F3F5"/>
                </a:solidFill>
                <a:latin typeface="Segoe UI"/>
              </a:rPr>
              <a:t>Accueil</a:t>
            </a:r>
            <a:r>
              <a:rPr sz="1200" b="0" i="0">
                <a:solidFill>
                  <a:srgbClr val="A8AEBB"/>
                </a:solidFill>
                <a:latin typeface="Segoe UI"/>
              </a:rPr>
              <a:t>  →  Registre filtré (catégorie « Fournitures scolaires »)  →  Fiche d'un don  →  </a:t>
            </a:r>
            <a:r>
              <a:rPr sz="1200" b="1" i="0">
                <a:solidFill>
                  <a:srgbClr val="F2F3F5"/>
                </a:solidFill>
                <a:latin typeface="Segoe UI"/>
              </a:rPr>
              <a:t>Publier un don</a:t>
            </a:r>
            <a:r>
              <a:rPr sz="1200" b="0" i="0">
                <a:solidFill>
                  <a:srgbClr val="A8AEBB"/>
                </a:solidFill>
                <a:latin typeface="Segoe UI"/>
              </a:rPr>
              <a:t> (manteau d'hiver)  →  </a:t>
            </a:r>
            <a:r>
              <a:rPr sz="1200" b="1" i="0">
                <a:solidFill>
                  <a:srgbClr val="F2F3F5"/>
                </a:solidFill>
                <a:latin typeface="Segoe UI"/>
              </a:rPr>
              <a:t>Modération</a:t>
            </a:r>
            <a:r>
              <a:rPr sz="1200" b="0" i="0">
                <a:solidFill>
                  <a:srgbClr val="A8AEBB"/>
                </a:solidFill>
                <a:latin typeface="Segoe UI"/>
              </a:rPr>
              <a:t> par l'association  →  Demande et remise en main propre.</a:t>
            </a:r>
          </a:p>
          <a:p>
            <a:pPr>
              <a:spcBef>
                <a:spcPts val="800"/>
              </a:spcBef>
              <a:spcAft>
                <a:spcPts val="0"/>
              </a:spcAft>
            </a:pPr>
            <a:r>
              <a:rPr sz="1050" b="0" i="1">
                <a:solidFill>
                  <a:srgbClr val="777D8A"/>
                </a:solidFill>
                <a:latin typeface="Segoe UI"/>
              </a:rPr>
              <a:t>Points à montrer : la demande ne demande rien de plus que l'objet et un quartier ; l'association voit un signalement en un clic ; aucun écran n'affiche de prix.</a:t>
            </a:r>
          </a:p>
        </p:txBody>
      </p:sp>
      <p:sp>
        <p:nvSpPr>
          <p:cNvPr id="23" name="TextBox 22"/>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777D8A"/>
                </a:solidFill>
                <a:latin typeface="Segoe UI"/>
              </a:rPr>
              <a:t>Solidarité+  ·  ODD 1 — Pas de pauvreté  ·  EMSI 3IIR S5 — 2026</a:t>
            </a:r>
          </a:p>
        </p:txBody>
      </p:sp>
      <p:sp>
        <p:nvSpPr>
          <p:cNvPr id="24" name="Rounded Rectangle 23"/>
          <p:cNvSpPr/>
          <p:nvPr/>
        </p:nvSpPr>
        <p:spPr>
          <a:xfrm>
            <a:off x="11475720" y="6382512"/>
            <a:ext cx="384048" cy="384048"/>
          </a:xfrm>
          <a:prstGeom prst="roundRect">
            <a:avLst>
              <a:gd name="adj" fmla="val 28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14171F"/>
                </a:solidFill>
                <a:latin typeface="Segoe UI"/>
              </a:rPr>
              <a:t>7</a:t>
            </a:r>
          </a:p>
        </p:txBody>
      </p:sp>
      <p:sp>
        <p:nvSpPr>
          <p:cNvPr id="25" name="TextBox 24"/>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777D8A"/>
                </a:solidFill>
                <a:latin typeface="Segoe UI"/>
              </a:rPr>
              <a:t>≈ 2 min (démo)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1B1F29"/>
                </a:solidFill>
                <a:latin typeface="Segoe UI"/>
              </a:rPr>
              <a:t>07</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F2B33D"/>
                </a:solidFill>
                <a:latin typeface="Segoe UI"/>
              </a:rPr>
              <a:t>SECTION 4 · IMPACTS</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2900" b="1" i="0">
                <a:solidFill>
                  <a:srgbClr val="F2F3F5"/>
                </a:solidFill>
                <a:latin typeface="Segoe UI"/>
              </a:rPr>
              <a:t>Impacts : bénéfices, risques et solutions</a:t>
            </a:r>
          </a:p>
        </p:txBody>
      </p:sp>
      <p:sp>
        <p:nvSpPr>
          <p:cNvPr id="6" name="Rectangle 5"/>
          <p:cNvSpPr/>
          <p:nvPr/>
        </p:nvSpPr>
        <p:spPr>
          <a:xfrm>
            <a:off x="612648" y="1481328"/>
            <a:ext cx="822960" cy="50292"/>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94360" y="1828800"/>
          <a:ext cx="11009376" cy="4242816"/>
        </p:xfrm>
        <a:graphic>
          <a:graphicData uri="http://schemas.openxmlformats.org/drawingml/2006/table">
            <a:tbl>
              <a:tblPr firstRow="1" bandRow="1">
                <a:tableStyleId>{5C22544A-7EE6-4342-B048-85BDC9FD1C3A}</a:tableStyleId>
              </a:tblPr>
              <a:tblGrid>
                <a:gridCol w="1920240"/>
                <a:gridCol w="3291840"/>
                <a:gridCol w="2743200"/>
                <a:gridCol w="3054096"/>
              </a:tblGrid>
              <a:tr h="457200">
                <a:tc>
                  <a:txBody>
                    <a:bodyPr/>
                    <a:lstStyle/>
                    <a:p>
                      <a:r>
                        <a:rPr sz="1150" b="1">
                          <a:solidFill>
                            <a:srgbClr val="14171F"/>
                          </a:solidFill>
                          <a:latin typeface="Segoe UI"/>
                        </a:rPr>
                        <a:t>Dimension</a:t>
                      </a:r>
                    </a:p>
                  </a:txBody>
                  <a:tcPr marL="128016" marT="54864">
                    <a:solidFill>
                      <a:srgbClr val="F2B33D"/>
                    </a:solidFill>
                  </a:tcPr>
                </a:tc>
                <a:tc>
                  <a:txBody>
                    <a:bodyPr/>
                    <a:lstStyle/>
                    <a:p>
                      <a:r>
                        <a:rPr sz="1150" b="1">
                          <a:solidFill>
                            <a:srgbClr val="F2F3F5"/>
                          </a:solidFill>
                          <a:latin typeface="Segoe UI"/>
                        </a:rPr>
                        <a:t>Bénéfice attendu</a:t>
                      </a:r>
                    </a:p>
                  </a:txBody>
                  <a:tcPr marL="128016" marT="54864">
                    <a:solidFill>
                      <a:srgbClr val="242935"/>
                    </a:solidFill>
                  </a:tcPr>
                </a:tc>
                <a:tc>
                  <a:txBody>
                    <a:bodyPr/>
                    <a:lstStyle/>
                    <a:p>
                      <a:r>
                        <a:rPr sz="1150" b="1">
                          <a:solidFill>
                            <a:srgbClr val="F2F3F5"/>
                          </a:solidFill>
                          <a:latin typeface="Segoe UI"/>
                        </a:rPr>
                        <a:t>Risque identifié</a:t>
                      </a:r>
                    </a:p>
                  </a:txBody>
                  <a:tcPr marL="128016" marT="54864">
                    <a:solidFill>
                      <a:srgbClr val="242935"/>
                    </a:solidFill>
                  </a:tcPr>
                </a:tc>
                <a:tc>
                  <a:txBody>
                    <a:bodyPr/>
                    <a:lstStyle/>
                    <a:p>
                      <a:r>
                        <a:rPr sz="1150" b="1">
                          <a:solidFill>
                            <a:srgbClr val="F2F3F5"/>
                          </a:solidFill>
                          <a:latin typeface="Segoe UI"/>
                        </a:rPr>
                        <a:t>Solution responsable</a:t>
                      </a:r>
                    </a:p>
                  </a:txBody>
                  <a:tcPr marL="128016" marT="54864">
                    <a:solidFill>
                      <a:srgbClr val="242935"/>
                    </a:solidFill>
                  </a:tcPr>
                </a:tc>
              </a:tr>
              <a:tr h="1261872">
                <a:tc>
                  <a:txBody>
                    <a:bodyPr wrap="square"/>
                    <a:lstStyle/>
                    <a:p>
                      <a:r>
                        <a:rPr sz="1100" b="1">
                          <a:solidFill>
                            <a:srgbClr val="F2B33D"/>
                          </a:solidFill>
                          <a:latin typeface="Segoe UI"/>
                        </a:rPr>
                        <a:t>SOCIAL</a:t>
                      </a:r>
                    </a:p>
                  </a:txBody>
                  <a:tcPr marL="128016" marT="64008" marR="91440" anchor="ctr">
                    <a:solidFill>
                      <a:srgbClr val="1E222C"/>
                    </a:solidFill>
                  </a:tcPr>
                </a:tc>
                <a:tc>
                  <a:txBody>
                    <a:bodyPr wrap="square"/>
                    <a:lstStyle/>
                    <a:p>
                      <a:r>
                        <a:rPr sz="1000" b="0">
                          <a:solidFill>
                            <a:srgbClr val="A8AEBB"/>
                          </a:solidFill>
                          <a:latin typeface="Segoe UI"/>
                        </a:rPr>
                        <a:t>Accès gratuit et sans humiliation aux biens de première nécessité, dans son quartier.</a:t>
                      </a:r>
                    </a:p>
                  </a:txBody>
                  <a:tcPr marL="128016" marT="64008" marR="91440">
                    <a:solidFill>
                      <a:srgbClr val="242935"/>
                    </a:solidFill>
                  </a:tcPr>
                </a:tc>
                <a:tc>
                  <a:txBody>
                    <a:bodyPr wrap="square"/>
                    <a:lstStyle/>
                    <a:p>
                      <a:r>
                        <a:rPr sz="1000" b="0">
                          <a:solidFill>
                            <a:srgbClr val="A8AEBB"/>
                          </a:solidFill>
                          <a:latin typeface="Segoe UI"/>
                        </a:rPr>
                        <a:t>La demande devient une vitrine : honte, concurrence entre demandeurs.</a:t>
                      </a:r>
                    </a:p>
                  </a:txBody>
                  <a:tcPr marL="128016" marT="64008" marR="91440">
                    <a:solidFill>
                      <a:srgbClr val="242935"/>
                    </a:solidFill>
                  </a:tcPr>
                </a:tc>
                <a:tc>
                  <a:txBody>
                    <a:bodyPr wrap="square"/>
                    <a:lstStyle/>
                    <a:p>
                      <a:r>
                        <a:rPr sz="1000" b="0">
                          <a:solidFill>
                            <a:srgbClr val="A8AEBB"/>
                          </a:solidFill>
                          <a:latin typeface="Segoe UI"/>
                        </a:rPr>
                        <a:t>Aucun justificatif demandé, pas de photo, quartier approximatif, remise discrète.</a:t>
                      </a:r>
                    </a:p>
                  </a:txBody>
                  <a:tcPr marL="128016" marT="64008" marR="91440">
                    <a:solidFill>
                      <a:srgbClr val="242935"/>
                    </a:solidFill>
                  </a:tcPr>
                </a:tc>
              </a:tr>
              <a:tr h="1261872">
                <a:tc>
                  <a:txBody>
                    <a:bodyPr wrap="square"/>
                    <a:lstStyle/>
                    <a:p>
                      <a:r>
                        <a:rPr sz="1100" b="1">
                          <a:solidFill>
                            <a:srgbClr val="F2B33D"/>
                          </a:solidFill>
                          <a:latin typeface="Segoe UI"/>
                        </a:rPr>
                        <a:t>ENVIRONNEMENTAL</a:t>
                      </a:r>
                    </a:p>
                  </a:txBody>
                  <a:tcPr marL="128016" marT="64008" marR="91440" anchor="ctr">
                    <a:solidFill>
                      <a:srgbClr val="1E222C"/>
                    </a:solidFill>
                  </a:tcPr>
                </a:tc>
                <a:tc>
                  <a:txBody>
                    <a:bodyPr wrap="square"/>
                    <a:lstStyle/>
                    <a:p>
                      <a:r>
                        <a:rPr sz="1000" b="0">
                          <a:solidFill>
                            <a:srgbClr val="A8AEBB"/>
                          </a:solidFill>
                          <a:latin typeface="Segoe UI"/>
                        </a:rPr>
                        <a:t>Un objet réutilisé n'est ni jeté ni remplacé : moins de déchets, moins d'achat neuf.</a:t>
                      </a:r>
                    </a:p>
                  </a:txBody>
                  <a:tcPr marL="128016" marT="64008" marR="91440">
                    <a:solidFill>
                      <a:srgbClr val="212631"/>
                    </a:solidFill>
                  </a:tcPr>
                </a:tc>
                <a:tc>
                  <a:txBody>
                    <a:bodyPr wrap="square"/>
                    <a:lstStyle/>
                    <a:p>
                      <a:r>
                        <a:rPr sz="1000" b="0">
                          <a:solidFill>
                            <a:srgbClr val="A8AEBB"/>
                          </a:solidFill>
                          <a:latin typeface="Segoe UI"/>
                        </a:rPr>
                        <a:t>Un flux mal filtré devient un flux de déchets : objets cassés ou périmés.</a:t>
                      </a:r>
                    </a:p>
                  </a:txBody>
                  <a:tcPr marL="128016" marT="64008" marR="91440">
                    <a:solidFill>
                      <a:srgbClr val="212631"/>
                    </a:solidFill>
                  </a:tcPr>
                </a:tc>
                <a:tc>
                  <a:txBody>
                    <a:bodyPr wrap="square"/>
                    <a:lstStyle/>
                    <a:p>
                      <a:r>
                        <a:rPr sz="1000" b="0">
                          <a:solidFill>
                            <a:srgbClr val="A8AEBB"/>
                          </a:solidFill>
                          <a:latin typeface="Segoe UI"/>
                        </a:rPr>
                        <a:t>Validation par une association, état annoncé obligatoire, conseils d'hygiène.</a:t>
                      </a:r>
                    </a:p>
                  </a:txBody>
                  <a:tcPr marL="128016" marT="64008" marR="91440">
                    <a:solidFill>
                      <a:srgbClr val="212631"/>
                    </a:solidFill>
                  </a:tcPr>
                </a:tc>
              </a:tr>
              <a:tr h="1261872">
                <a:tc>
                  <a:txBody>
                    <a:bodyPr wrap="square"/>
                    <a:lstStyle/>
                    <a:p>
                      <a:r>
                        <a:rPr sz="1100" b="1">
                          <a:solidFill>
                            <a:srgbClr val="F2B33D"/>
                          </a:solidFill>
                          <a:latin typeface="Segoe UI"/>
                        </a:rPr>
                        <a:t>ÉCONOMIQUE</a:t>
                      </a:r>
                    </a:p>
                  </a:txBody>
                  <a:tcPr marL="128016" marT="64008" marR="91440" anchor="ctr">
                    <a:solidFill>
                      <a:srgbClr val="1E222C"/>
                    </a:solidFill>
                  </a:tcPr>
                </a:tc>
                <a:tc>
                  <a:txBody>
                    <a:bodyPr wrap="square"/>
                    <a:lstStyle/>
                    <a:p>
                      <a:r>
                        <a:rPr sz="1000" b="0">
                          <a:solidFill>
                            <a:srgbClr val="A8AEBB"/>
                          </a:solidFill>
                          <a:latin typeface="Segoe UI"/>
                        </a:rPr>
                        <a:t>Budget des ménages allégé sur l'essentiel, réaffecté à d'autres besoins.</a:t>
                      </a:r>
                    </a:p>
                  </a:txBody>
                  <a:tcPr marL="128016" marT="64008" marR="91440">
                    <a:solidFill>
                      <a:srgbClr val="242935"/>
                    </a:solidFill>
                  </a:tcPr>
                </a:tc>
                <a:tc>
                  <a:txBody>
                    <a:bodyPr wrap="square"/>
                    <a:lstStyle/>
                    <a:p>
                      <a:r>
                        <a:rPr sz="1000" b="0">
                          <a:solidFill>
                            <a:srgbClr val="A8AEBB"/>
                          </a:solidFill>
                          <a:latin typeface="Segoe UI"/>
                        </a:rPr>
                        <a:t>Marché parallèle : dons revendus, annonces déguisées en ventes.</a:t>
                      </a:r>
                    </a:p>
                  </a:txBody>
                  <a:tcPr marL="128016" marT="64008" marR="91440">
                    <a:solidFill>
                      <a:srgbClr val="242935"/>
                    </a:solidFill>
                  </a:tcPr>
                </a:tc>
                <a:tc>
                  <a:txBody>
                    <a:bodyPr wrap="square"/>
                    <a:lstStyle/>
                    <a:p>
                      <a:r>
                        <a:rPr sz="1000" b="0">
                          <a:solidFill>
                            <a:srgbClr val="A8AEBB"/>
                          </a:solidFill>
                          <a:latin typeface="Segoe UI"/>
                        </a:rPr>
                        <a:t>Aucun prix affiché, tout paiement interdit, modération active.</a:t>
                      </a:r>
                    </a:p>
                  </a:txBody>
                  <a:tcPr marL="128016" marT="64008" marR="91440">
                    <a:solidFill>
                      <a:srgbClr val="242935"/>
                    </a:solidFill>
                  </a:tcPr>
                </a:tc>
              </a:tr>
            </a:tbl>
          </a:graphicData>
        </a:graphic>
      </p:graphicFrame>
      <p:sp>
        <p:nvSpPr>
          <p:cNvPr id="8" name="TextBox 7"/>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777D8A"/>
                </a:solidFill>
                <a:latin typeface="Segoe UI"/>
              </a:rPr>
              <a:t>Solidarité+  ·  ODD 1 — Pas de pauvreté  ·  EMSI 3IIR S5 — 2026</a:t>
            </a:r>
          </a:p>
        </p:txBody>
      </p:sp>
      <p:sp>
        <p:nvSpPr>
          <p:cNvPr id="9" name="Rounded Rectangle 8"/>
          <p:cNvSpPr/>
          <p:nvPr/>
        </p:nvSpPr>
        <p:spPr>
          <a:xfrm>
            <a:off x="11475720" y="6382512"/>
            <a:ext cx="384048" cy="384048"/>
          </a:xfrm>
          <a:prstGeom prst="roundRect">
            <a:avLst>
              <a:gd name="adj" fmla="val 28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14171F"/>
                </a:solidFill>
                <a:latin typeface="Segoe UI"/>
              </a:rPr>
              <a:t>8</a:t>
            </a:r>
          </a:p>
        </p:txBody>
      </p:sp>
      <p:sp>
        <p:nvSpPr>
          <p:cNvPr id="10" name="TextBox 9"/>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777D8A"/>
                </a:solidFill>
                <a:latin typeface="Segoe UI"/>
              </a:rPr>
              <a:t>≈ 1 min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1B1F29"/>
                </a:solidFill>
                <a:latin typeface="Segoe UI"/>
              </a:rPr>
              <a:t>08</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F2B33D"/>
                </a:solidFill>
                <a:latin typeface="Segoe UI"/>
              </a:rPr>
              <a:t>SECTION 4 · ÉVALUATION</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2900" b="1" i="0">
                <a:solidFill>
                  <a:srgbClr val="F2F3F5"/>
                </a:solidFill>
                <a:latin typeface="Segoe UI"/>
              </a:rPr>
              <a:t>Deux indicateurs pour mesurer l'utilité réelle</a:t>
            </a:r>
          </a:p>
        </p:txBody>
      </p:sp>
      <p:sp>
        <p:nvSpPr>
          <p:cNvPr id="6" name="Rectangle 5"/>
          <p:cNvSpPr/>
          <p:nvPr/>
        </p:nvSpPr>
        <p:spPr>
          <a:xfrm>
            <a:off x="612648" y="1481328"/>
            <a:ext cx="822960" cy="50292"/>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828800"/>
            <a:ext cx="5394960" cy="3291840"/>
          </a:xfrm>
          <a:prstGeom prst="roundRect">
            <a:avLst>
              <a:gd name="adj" fmla="val 5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28800"/>
            <a:ext cx="5394960" cy="109728"/>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48840"/>
            <a:ext cx="4754880" cy="2834640"/>
          </a:xfrm>
          <a:prstGeom prst="rect">
            <a:avLst/>
          </a:prstGeom>
          <a:noFill/>
        </p:spPr>
        <p:txBody>
          <a:bodyPr wrap="square" anchor="t" lIns="0" rIns="0" tIns="0" bIns="0">
            <a:spAutoFit/>
          </a:bodyPr>
          <a:lstStyle/>
          <a:p>
            <a:pPr>
              <a:spcBef>
                <a:spcPts val="0"/>
              </a:spcBef>
              <a:spcAft>
                <a:spcPts val="0"/>
              </a:spcAft>
            </a:pPr>
            <a:r>
              <a:rPr sz="2000" b="1" i="0">
                <a:solidFill>
                  <a:srgbClr val="F2B33D"/>
                </a:solidFill>
                <a:latin typeface="Segoe UI"/>
              </a:rPr>
              <a:t>I1  </a:t>
            </a:r>
            <a:r>
              <a:rPr sz="1600" b="1" i="0">
                <a:solidFill>
                  <a:srgbClr val="F2F3F5"/>
                </a:solidFill>
                <a:latin typeface="Segoe UI"/>
              </a:rPr>
              <a:t>Taux de remise effective</a:t>
            </a:r>
          </a:p>
          <a:p>
            <a:pPr>
              <a:spcBef>
                <a:spcPts val="900"/>
              </a:spcBef>
              <a:spcAft>
                <a:spcPts val="0"/>
              </a:spcAft>
            </a:pPr>
            <a:r>
              <a:rPr sz="1100" b="1" i="0">
                <a:solidFill>
                  <a:srgbClr val="F2B33D"/>
                </a:solidFill>
                <a:latin typeface="Segoe UI"/>
              </a:rPr>
              <a:t>Formule : </a:t>
            </a:r>
            <a:r>
              <a:rPr sz="1100" b="0" i="0">
                <a:solidFill>
                  <a:srgbClr val="A8AEBB"/>
                </a:solidFill>
                <a:latin typeface="Segoe UI"/>
              </a:rPr>
              <a:t>dons remis en main propre ÷ annonces validées, par mois.</a:t>
            </a:r>
          </a:p>
          <a:p>
            <a:pPr>
              <a:spcBef>
                <a:spcPts val="900"/>
              </a:spcBef>
              <a:spcAft>
                <a:spcPts val="0"/>
              </a:spcAft>
            </a:pPr>
            <a:r>
              <a:rPr sz="1100" b="1" i="0">
                <a:solidFill>
                  <a:srgbClr val="F2B33D"/>
                </a:solidFill>
                <a:latin typeface="Segoe UI"/>
              </a:rPr>
              <a:t>Mesure : </a:t>
            </a:r>
            <a:r>
              <a:rPr sz="1100" b="0" i="0">
                <a:solidFill>
                  <a:srgbClr val="A8AEBB"/>
                </a:solidFill>
                <a:latin typeface="Segoe UI"/>
              </a:rPr>
              <a:t>compteur d'événements dans le registre, confirmé par l'association.</a:t>
            </a:r>
          </a:p>
          <a:p>
            <a:pPr>
              <a:spcBef>
                <a:spcPts val="900"/>
              </a:spcBef>
              <a:spcAft>
                <a:spcPts val="0"/>
              </a:spcAft>
            </a:pPr>
            <a:r>
              <a:rPr sz="1100" b="1" i="0">
                <a:solidFill>
                  <a:srgbClr val="F2B33D"/>
                </a:solidFill>
                <a:latin typeface="Segoe UI"/>
              </a:rPr>
              <a:t>Cible pilote : </a:t>
            </a:r>
            <a:r>
              <a:rPr sz="1100" b="0" i="0">
                <a:solidFill>
                  <a:srgbClr val="A8AEBB"/>
                </a:solidFill>
                <a:latin typeface="Segoe UI"/>
              </a:rPr>
              <a:t>au moins 60 % des annonces validées aboutissent à une remise en moins de 7 jours.</a:t>
            </a:r>
          </a:p>
        </p:txBody>
      </p:sp>
      <p:sp>
        <p:nvSpPr>
          <p:cNvPr id="10" name="Rounded Rectangle 9"/>
          <p:cNvSpPr/>
          <p:nvPr/>
        </p:nvSpPr>
        <p:spPr>
          <a:xfrm>
            <a:off x="6208776" y="1828800"/>
            <a:ext cx="5394960" cy="3291840"/>
          </a:xfrm>
          <a:prstGeom prst="roundRect">
            <a:avLst>
              <a:gd name="adj" fmla="val 50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394960" cy="109728"/>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148840"/>
            <a:ext cx="4754880" cy="2834640"/>
          </a:xfrm>
          <a:prstGeom prst="rect">
            <a:avLst/>
          </a:prstGeom>
          <a:noFill/>
        </p:spPr>
        <p:txBody>
          <a:bodyPr wrap="square" anchor="t" lIns="0" rIns="0" tIns="0" bIns="0">
            <a:spAutoFit/>
          </a:bodyPr>
          <a:lstStyle/>
          <a:p>
            <a:pPr>
              <a:spcBef>
                <a:spcPts val="0"/>
              </a:spcBef>
              <a:spcAft>
                <a:spcPts val="0"/>
              </a:spcAft>
            </a:pPr>
            <a:r>
              <a:rPr sz="2000" b="1" i="0">
                <a:solidFill>
                  <a:srgbClr val="F2B33D"/>
                </a:solidFill>
                <a:latin typeface="Segoe UI"/>
              </a:rPr>
              <a:t>I2  </a:t>
            </a:r>
            <a:r>
              <a:rPr sz="1600" b="1" i="0">
                <a:solidFill>
                  <a:srgbClr val="F2F3F5"/>
                </a:solidFill>
                <a:latin typeface="Segoe UI"/>
              </a:rPr>
              <a:t>Gains pour les ménages bénéficiaires</a:t>
            </a:r>
          </a:p>
          <a:p>
            <a:pPr>
              <a:spcBef>
                <a:spcPts val="900"/>
              </a:spcBef>
              <a:spcAft>
                <a:spcPts val="0"/>
              </a:spcAft>
            </a:pPr>
            <a:r>
              <a:rPr sz="1100" b="1" i="0">
                <a:solidFill>
                  <a:srgbClr val="F2B33D"/>
                </a:solidFill>
                <a:latin typeface="Segoe UI"/>
              </a:rPr>
              <a:t>Formule : </a:t>
            </a:r>
            <a:r>
              <a:rPr sz="1100" b="0" i="0">
                <a:solidFill>
                  <a:srgbClr val="A8AEBB"/>
                </a:solidFill>
                <a:latin typeface="Segoe UI"/>
              </a:rPr>
              <a:t>somme des valeurs estimées des biens reçus (en DH), cumulée par mois et par quartier.</a:t>
            </a:r>
          </a:p>
          <a:p>
            <a:pPr>
              <a:spcBef>
                <a:spcPts val="900"/>
              </a:spcBef>
              <a:spcAft>
                <a:spcPts val="0"/>
              </a:spcAft>
            </a:pPr>
            <a:r>
              <a:rPr sz="1100" b="1" i="0">
                <a:solidFill>
                  <a:srgbClr val="F2B33D"/>
                </a:solidFill>
                <a:latin typeface="Segoe UI"/>
              </a:rPr>
              <a:t>Mesure : </a:t>
            </a:r>
            <a:r>
              <a:rPr sz="1100" b="0" i="0">
                <a:solidFill>
                  <a:srgbClr val="A8AEBB"/>
                </a:solidFill>
                <a:latin typeface="Segoe UI"/>
              </a:rPr>
              <a:t>valeur déclarée par le donneur à la publication + suivi d'un échantillon de familles.</a:t>
            </a:r>
          </a:p>
          <a:p>
            <a:pPr>
              <a:spcBef>
                <a:spcPts val="900"/>
              </a:spcBef>
              <a:spcAft>
                <a:spcPts val="0"/>
              </a:spcAft>
            </a:pPr>
            <a:r>
              <a:rPr sz="1100" b="1" i="0">
                <a:solidFill>
                  <a:srgbClr val="F2B33D"/>
                </a:solidFill>
                <a:latin typeface="Segoe UI"/>
              </a:rPr>
              <a:t>Cible pilote : </a:t>
            </a:r>
            <a:r>
              <a:rPr sz="1100" b="0" i="0">
                <a:solidFill>
                  <a:srgbClr val="A8AEBB"/>
                </a:solidFill>
                <a:latin typeface="Segoe UI"/>
              </a:rPr>
              <a:t>au moins 30 familles aidées par trimestre dans un quartier pilote.</a:t>
            </a:r>
          </a:p>
        </p:txBody>
      </p:sp>
      <p:sp>
        <p:nvSpPr>
          <p:cNvPr id="13" name="Rounded Rectangle 12"/>
          <p:cNvSpPr/>
          <p:nvPr/>
        </p:nvSpPr>
        <p:spPr>
          <a:xfrm>
            <a:off x="594360" y="5349240"/>
            <a:ext cx="11009376" cy="777240"/>
          </a:xfrm>
          <a:prstGeom prst="roundRect">
            <a:avLst>
              <a:gd name="adj" fmla="val 14000"/>
            </a:avLst>
          </a:prstGeom>
          <a:solidFill>
            <a:srgbClr val="242935"/>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468112"/>
            <a:ext cx="10332720" cy="548640"/>
          </a:xfrm>
          <a:prstGeom prst="rect">
            <a:avLst/>
          </a:prstGeom>
          <a:noFill/>
        </p:spPr>
        <p:txBody>
          <a:bodyPr wrap="square" anchor="t" lIns="0" rIns="0" tIns="0" bIns="0">
            <a:spAutoFit/>
          </a:bodyPr>
          <a:lstStyle/>
          <a:p>
            <a:pPr>
              <a:spcBef>
                <a:spcPts val="0"/>
              </a:spcBef>
              <a:spcAft>
                <a:spcPts val="0"/>
              </a:spcAft>
            </a:pPr>
            <a:r>
              <a:rPr sz="900" b="0" i="0">
                <a:solidFill>
                  <a:srgbClr val="F2B33D"/>
                </a:solidFill>
                <a:latin typeface="Segoe UI"/>
              </a:rPr>
              <a:t>■ </a:t>
            </a:r>
            <a:r>
              <a:rPr sz="1100" b="1" i="0">
                <a:solidFill>
                  <a:srgbClr val="F2F3F5"/>
                </a:solidFill>
                <a:latin typeface="Segoe UI"/>
              </a:rPr>
              <a:t>Condition de mesure : </a:t>
            </a:r>
            <a:r>
              <a:rPr sz="1100" b="0" i="0">
                <a:solidFill>
                  <a:srgbClr val="A8AEBB"/>
                </a:solidFill>
                <a:latin typeface="Segoe UI"/>
              </a:rPr>
              <a:t>ces deux indicateurs ne peuvent être évalués que lors d'un pilote local avec une association réelle (un quartier, quelques dizaines de dons) — c'est précisément la suite du projet.</a:t>
            </a:r>
          </a:p>
        </p:txBody>
      </p:sp>
      <p:sp>
        <p:nvSpPr>
          <p:cNvPr id="15" name="TextBox 14"/>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777D8A"/>
                </a:solidFill>
                <a:latin typeface="Segoe UI"/>
              </a:rPr>
              <a:t>Solidarité+  ·  ODD 1 — Pas de pauvreté  ·  EMSI 3IIR S5 — 2026</a:t>
            </a:r>
          </a:p>
        </p:txBody>
      </p:sp>
      <p:sp>
        <p:nvSpPr>
          <p:cNvPr id="16" name="Rounded Rectangle 15"/>
          <p:cNvSpPr/>
          <p:nvPr/>
        </p:nvSpPr>
        <p:spPr>
          <a:xfrm>
            <a:off x="11475720" y="6382512"/>
            <a:ext cx="384048" cy="384048"/>
          </a:xfrm>
          <a:prstGeom prst="roundRect">
            <a:avLst>
              <a:gd name="adj" fmla="val 28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14171F"/>
                </a:solidFill>
                <a:latin typeface="Segoe UI"/>
              </a:rPr>
              <a:t>9</a:t>
            </a:r>
          </a:p>
        </p:txBody>
      </p:sp>
      <p:sp>
        <p:nvSpPr>
          <p:cNvPr id="17" name="TextBox 16"/>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777D8A"/>
                </a:solidFill>
                <a:latin typeface="Segoe UI"/>
              </a:rPr>
              <a:t>≈ 40 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1B1F29"/>
                </a:solidFill>
                <a:latin typeface="Segoe UI"/>
              </a:rPr>
              <a:t>09</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F2B33D"/>
                </a:solidFill>
                <a:latin typeface="Segoe UI"/>
              </a:rPr>
              <a:t>SECTION 5 · ET APRÈS ?</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2900" b="1" i="0">
                <a:solidFill>
                  <a:srgbClr val="F2F3F5"/>
                </a:solidFill>
                <a:latin typeface="Segoe UI"/>
              </a:rPr>
              <a:t>Limites du prototype et améliorations possibles</a:t>
            </a:r>
          </a:p>
        </p:txBody>
      </p:sp>
      <p:sp>
        <p:nvSpPr>
          <p:cNvPr id="6" name="Rectangle 5"/>
          <p:cNvSpPr/>
          <p:nvPr/>
        </p:nvSpPr>
        <p:spPr>
          <a:xfrm>
            <a:off x="612648" y="1481328"/>
            <a:ext cx="822960" cy="50292"/>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810512"/>
            <a:ext cx="5394960" cy="3246120"/>
          </a:xfrm>
          <a:prstGeom prst="roundRect">
            <a:avLst>
              <a:gd name="adj" fmla="val 55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82296" cy="3246120"/>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029967"/>
            <a:ext cx="4892040" cy="2880360"/>
          </a:xfrm>
          <a:prstGeom prst="rect">
            <a:avLst/>
          </a:prstGeom>
          <a:noFill/>
        </p:spPr>
        <p:txBody>
          <a:bodyPr wrap="square" anchor="t" lIns="0" rIns="0" tIns="0" bIns="0">
            <a:spAutoFit/>
          </a:bodyPr>
          <a:lstStyle/>
          <a:p>
            <a:pPr>
              <a:spcBef>
                <a:spcPts val="0"/>
              </a:spcBef>
              <a:spcAft>
                <a:spcPts val="600"/>
              </a:spcAft>
            </a:pPr>
            <a:r>
              <a:rPr sz="1450" b="1" i="0">
                <a:solidFill>
                  <a:srgbClr val="F2F3F5"/>
                </a:solidFill>
                <a:latin typeface="Segoe UI"/>
              </a:rPr>
              <a:t>Nos limites honnêtes</a:t>
            </a:r>
          </a:p>
          <a:p>
            <a:pPr marL="219456" indent="-219456">
              <a:spcBef>
                <a:spcPts val="500"/>
              </a:spcBef>
              <a:spcAft>
                <a:spcPts val="0"/>
              </a:spcAft>
              <a:buClr>
                <a:srgbClr val="F2B33D"/>
              </a:buClr>
              <a:buSzPct val="60000"/>
              <a:buFont typeface="Arial"/>
              <a:buChar char="■"/>
            </a:pPr>
            <a:r>
              <a:rPr sz="1150" b="0" i="0">
                <a:solidFill>
                  <a:srgbClr val="A8AEBB"/>
                </a:solidFill>
                <a:latin typeface="Segoe UI"/>
              </a:rPr>
              <a:t>Aucun utilisateur réel : données fictives écrites pour la démonstration.</a:t>
            </a:r>
          </a:p>
          <a:p>
            <a:pPr marL="219456" indent="-219456">
              <a:spcBef>
                <a:spcPts val="500"/>
              </a:spcBef>
              <a:spcAft>
                <a:spcPts val="0"/>
              </a:spcAft>
              <a:buClr>
                <a:srgbClr val="F2B33D"/>
              </a:buClr>
              <a:buSzPct val="60000"/>
              <a:buFont typeface="Arial"/>
              <a:buChar char="■"/>
            </a:pPr>
            <a:r>
              <a:rPr sz="1150" b="0" i="0">
                <a:solidFill>
                  <a:srgbClr val="A8AEBB"/>
                </a:solidFill>
                <a:latin typeface="Segoe UI"/>
              </a:rPr>
              <a:t>Aucun serveur : tout reste dans le navigateur, rien n'est partagé.</a:t>
            </a:r>
          </a:p>
          <a:p>
            <a:pPr marL="219456" indent="-219456">
              <a:spcBef>
                <a:spcPts val="500"/>
              </a:spcBef>
              <a:spcAft>
                <a:spcPts val="0"/>
              </a:spcAft>
              <a:buClr>
                <a:srgbClr val="F2B33D"/>
              </a:buClr>
              <a:buSzPct val="60000"/>
              <a:buFont typeface="Arial"/>
              <a:buChar char="■"/>
            </a:pPr>
            <a:r>
              <a:rPr sz="1150" b="0" i="0">
                <a:solidFill>
                  <a:srgbClr val="A8AEBB"/>
                </a:solidFill>
                <a:latin typeface="Segoe UI"/>
              </a:rPr>
              <a:t>Aucune vérification d'identité : le rôle « association » est un interrupteur de démo.</a:t>
            </a:r>
          </a:p>
          <a:p>
            <a:pPr marL="219456" indent="-219456">
              <a:spcBef>
                <a:spcPts val="500"/>
              </a:spcBef>
              <a:spcAft>
                <a:spcPts val="0"/>
              </a:spcAft>
              <a:buClr>
                <a:srgbClr val="F2B33D"/>
              </a:buClr>
              <a:buSzPct val="60000"/>
              <a:buFont typeface="Arial"/>
              <a:buChar char="■"/>
            </a:pPr>
            <a:r>
              <a:rPr sz="1150" b="0" i="0">
                <a:solidFill>
                  <a:srgbClr val="A8AEBB"/>
                </a:solidFill>
                <a:latin typeface="Segoe UI"/>
              </a:rPr>
              <a:t>Aucun impact mesuré : les trois dimensions restent des hypothèses.</a:t>
            </a:r>
          </a:p>
          <a:p>
            <a:pPr marL="219456" indent="-219456">
              <a:spcBef>
                <a:spcPts val="500"/>
              </a:spcBef>
              <a:spcAft>
                <a:spcPts val="0"/>
              </a:spcAft>
              <a:buClr>
                <a:srgbClr val="F2B33D"/>
              </a:buClr>
              <a:buSzPct val="60000"/>
              <a:buFont typeface="Arial"/>
              <a:buChar char="■"/>
            </a:pPr>
            <a:r>
              <a:rPr sz="1150" b="0" i="0">
                <a:solidFill>
                  <a:srgbClr val="A8AEBB"/>
                </a:solidFill>
                <a:latin typeface="Segoe UI"/>
              </a:rPr>
              <a:t>Aucun lien officiel avec l'ONU : inspiration, pas endossement.</a:t>
            </a:r>
          </a:p>
        </p:txBody>
      </p:sp>
      <p:sp>
        <p:nvSpPr>
          <p:cNvPr id="10" name="Rounded Rectangle 9"/>
          <p:cNvSpPr/>
          <p:nvPr/>
        </p:nvSpPr>
        <p:spPr>
          <a:xfrm>
            <a:off x="6208776" y="1810512"/>
            <a:ext cx="5394960" cy="3246120"/>
          </a:xfrm>
          <a:prstGeom prst="roundRect">
            <a:avLst>
              <a:gd name="adj" fmla="val 5500"/>
            </a:avLst>
          </a:prstGeom>
          <a:solidFill>
            <a:srgbClr val="1E222C"/>
          </a:solidFill>
          <a:ln w="9525">
            <a:solidFill>
              <a:srgbClr val="2E3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10512"/>
            <a:ext cx="82296" cy="3246120"/>
          </a:xfrm>
          <a:prstGeom prst="rect">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01384" y="2029967"/>
            <a:ext cx="4892040" cy="2880360"/>
          </a:xfrm>
          <a:prstGeom prst="rect">
            <a:avLst/>
          </a:prstGeom>
          <a:noFill/>
        </p:spPr>
        <p:txBody>
          <a:bodyPr wrap="square" anchor="t" lIns="0" rIns="0" tIns="0" bIns="0">
            <a:spAutoFit/>
          </a:bodyPr>
          <a:lstStyle/>
          <a:p>
            <a:pPr>
              <a:spcBef>
                <a:spcPts val="0"/>
              </a:spcBef>
              <a:spcAft>
                <a:spcPts val="600"/>
              </a:spcAft>
            </a:pPr>
            <a:r>
              <a:rPr sz="1450" b="1" i="0">
                <a:solidFill>
                  <a:srgbClr val="F2F3F5"/>
                </a:solidFill>
                <a:latin typeface="Segoe UI"/>
              </a:rPr>
              <a:t>Nos améliorations prévues</a:t>
            </a:r>
          </a:p>
          <a:p>
            <a:pPr marL="219456" indent="-219456">
              <a:spcBef>
                <a:spcPts val="500"/>
              </a:spcBef>
              <a:spcAft>
                <a:spcPts val="0"/>
              </a:spcAft>
              <a:buClr>
                <a:srgbClr val="F2B33D"/>
              </a:buClr>
              <a:buSzPct val="60000"/>
              <a:buFont typeface="Arial"/>
              <a:buChar char="■"/>
            </a:pPr>
            <a:r>
              <a:rPr sz="1150" b="0" i="0">
                <a:solidFill>
                  <a:srgbClr val="A8AEBB"/>
                </a:solidFill>
                <a:latin typeface="Segoe UI"/>
              </a:rPr>
              <a:t>Back-end et comptes vérifiés pour associations et donneurs.</a:t>
            </a:r>
          </a:p>
          <a:p>
            <a:pPr marL="219456" indent="-219456">
              <a:spcBef>
                <a:spcPts val="500"/>
              </a:spcBef>
              <a:spcAft>
                <a:spcPts val="0"/>
              </a:spcAft>
              <a:buClr>
                <a:srgbClr val="F2B33D"/>
              </a:buClr>
              <a:buSzPct val="60000"/>
              <a:buFont typeface="Arial"/>
              <a:buChar char="■"/>
            </a:pPr>
            <a:r>
              <a:rPr sz="1150" b="0" i="0">
                <a:solidFill>
                  <a:srgbClr val="A8AEBB"/>
                </a:solidFill>
                <a:latin typeface="Segoe UI"/>
              </a:rPr>
              <a:t>Partenariat réel : un quartier, une association, un pilote mesuré.</a:t>
            </a:r>
          </a:p>
          <a:p>
            <a:pPr marL="219456" indent="-219456">
              <a:spcBef>
                <a:spcPts val="500"/>
              </a:spcBef>
              <a:spcAft>
                <a:spcPts val="0"/>
              </a:spcAft>
              <a:buClr>
                <a:srgbClr val="F2B33D"/>
              </a:buClr>
              <a:buSzPct val="60000"/>
              <a:buFont typeface="Arial"/>
              <a:buChar char="■"/>
            </a:pPr>
            <a:r>
              <a:rPr sz="1150" b="0" i="0">
                <a:solidFill>
                  <a:srgbClr val="A8AEBB"/>
                </a:solidFill>
                <a:latin typeface="Segoe UI"/>
              </a:rPr>
              <a:t>Notifications et géolocalisation de quartier plus fine.</a:t>
            </a:r>
          </a:p>
          <a:p>
            <a:pPr marL="219456" indent="-219456">
              <a:spcBef>
                <a:spcPts val="500"/>
              </a:spcBef>
              <a:spcAft>
                <a:spcPts val="0"/>
              </a:spcAft>
              <a:buClr>
                <a:srgbClr val="F2B33D"/>
              </a:buClr>
              <a:buSzPct val="60000"/>
              <a:buFont typeface="Arial"/>
              <a:buChar char="■"/>
            </a:pPr>
            <a:r>
              <a:rPr sz="1150" b="0" i="0">
                <a:solidFill>
                  <a:srgbClr val="A8AEBB"/>
                </a:solidFill>
                <a:latin typeface="Segoe UI"/>
              </a:rPr>
              <a:t>Version mobile + interface en arabe pour toucher plus de personnes.</a:t>
            </a:r>
          </a:p>
          <a:p>
            <a:pPr marL="219456" indent="-219456">
              <a:spcBef>
                <a:spcPts val="500"/>
              </a:spcBef>
              <a:spcAft>
                <a:spcPts val="0"/>
              </a:spcAft>
              <a:buClr>
                <a:srgbClr val="F2B33D"/>
              </a:buClr>
              <a:buSzPct val="60000"/>
              <a:buFont typeface="Arial"/>
              <a:buChar char="■"/>
            </a:pPr>
            <a:r>
              <a:rPr sz="1150" b="0" i="0">
                <a:solidFill>
                  <a:srgbClr val="A8AEBB"/>
                </a:solidFill>
                <a:latin typeface="Segoe UI"/>
              </a:rPr>
              <a:t>Pilotage par nos deux indicateurs dès le premier mois du pilote.</a:t>
            </a:r>
          </a:p>
        </p:txBody>
      </p:sp>
      <p:sp>
        <p:nvSpPr>
          <p:cNvPr id="13" name="Rounded Rectangle 12"/>
          <p:cNvSpPr/>
          <p:nvPr/>
        </p:nvSpPr>
        <p:spPr>
          <a:xfrm>
            <a:off x="594360" y="5257800"/>
            <a:ext cx="11009376" cy="914400"/>
          </a:xfrm>
          <a:prstGeom prst="roundRect">
            <a:avLst>
              <a:gd name="adj" fmla="val 9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94960"/>
            <a:ext cx="10332720" cy="685800"/>
          </a:xfrm>
          <a:prstGeom prst="rect">
            <a:avLst/>
          </a:prstGeom>
          <a:noFill/>
        </p:spPr>
        <p:txBody>
          <a:bodyPr wrap="square" anchor="ctr" lIns="0" rIns="0" tIns="0" bIns="0">
            <a:spAutoFit/>
          </a:bodyPr>
          <a:lstStyle/>
          <a:p>
            <a:pPr algn="ctr">
              <a:spcBef>
                <a:spcPts val="0"/>
              </a:spcBef>
              <a:spcAft>
                <a:spcPts val="0"/>
              </a:spcAft>
            </a:pPr>
            <a:r>
              <a:rPr sz="1600" b="1" i="0">
                <a:solidFill>
                  <a:srgbClr val="14171F"/>
                </a:solidFill>
                <a:latin typeface="Segoe UI"/>
              </a:rPr>
              <a:t>Un objet utile. Une aide concrète. Dignement.  </a:t>
            </a:r>
            <a:r>
              <a:rPr sz="1250" b="0" i="0">
                <a:solidFill>
                  <a:srgbClr val="5C400A"/>
                </a:solidFill>
                <a:latin typeface="Segoe UI"/>
              </a:rPr>
              <a:t>— Merci de votre attention, place à la démonstration.</a:t>
            </a:r>
          </a:p>
        </p:txBody>
      </p:sp>
      <p:sp>
        <p:nvSpPr>
          <p:cNvPr id="15" name="TextBox 14"/>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777D8A"/>
                </a:solidFill>
                <a:latin typeface="Segoe UI"/>
              </a:rPr>
              <a:t>Solidarité+  ·  ODD 1 — Pas de pauvreté  ·  EMSI 3IIR S5 — 2026</a:t>
            </a:r>
          </a:p>
        </p:txBody>
      </p:sp>
      <p:sp>
        <p:nvSpPr>
          <p:cNvPr id="16" name="Rounded Rectangle 15"/>
          <p:cNvSpPr/>
          <p:nvPr/>
        </p:nvSpPr>
        <p:spPr>
          <a:xfrm>
            <a:off x="11475720" y="6382512"/>
            <a:ext cx="384048" cy="384048"/>
          </a:xfrm>
          <a:prstGeom prst="roundRect">
            <a:avLst>
              <a:gd name="adj" fmla="val 28000"/>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14171F"/>
                </a:solidFill>
                <a:latin typeface="Segoe UI"/>
              </a:rPr>
              <a:t>10</a:t>
            </a:r>
          </a:p>
        </p:txBody>
      </p:sp>
      <p:sp>
        <p:nvSpPr>
          <p:cNvPr id="17" name="TextBox 16"/>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777D8A"/>
                </a:solidFill>
                <a:latin typeface="Segoe UI"/>
              </a:rPr>
              <a:t>≈ 1 min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